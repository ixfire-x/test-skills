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02a0ffce38146dd" /><Relationship Type="http://schemas.openxmlformats.org/officeDocument/2006/relationships/extended-properties" Target="/docProps/app.xml" Id="Raddc3515d7ce44c3" /><Relationship Type="http://schemas.openxmlformats.org/officeDocument/2006/relationships/officeDocument" Target="/ppt/presentation.xml" Id="R9c00b05e3ea84269"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7f1038b90229445a"/>
  </p:sldMasterIdLst>
  <p:notesMasterIdLst>
    <p:notesMasterId xmlns:r="http://schemas.openxmlformats.org/officeDocument/2006/relationships" r:id="Rc88296bc844b4a3c"/>
  </p:notesMasterIdLst>
  <p:sldIdLst>
    <p:sldId xmlns:r="http://schemas.openxmlformats.org/officeDocument/2006/relationships" id="256" r:id="Ra357e02f9f724a77"/>
    <p:sldId xmlns:r="http://schemas.openxmlformats.org/officeDocument/2006/relationships" id="257" r:id="Ra8b899cd746244a9"/>
    <p:sldId xmlns:r="http://schemas.openxmlformats.org/officeDocument/2006/relationships" id="258" r:id="Rcfe829116b2a40b9"/>
    <p:sldId xmlns:r="http://schemas.openxmlformats.org/officeDocument/2006/relationships" id="259" r:id="Rd2be72814dd44f2b"/>
    <p:sldId xmlns:r="http://schemas.openxmlformats.org/officeDocument/2006/relationships" id="260" r:id="Re1aaa5da33a44fa6"/>
    <p:sldId xmlns:r="http://schemas.openxmlformats.org/officeDocument/2006/relationships" id="261" r:id="R92a7dfb96a444e3a"/>
    <p:sldId xmlns:r="http://schemas.openxmlformats.org/officeDocument/2006/relationships" id="262" r:id="Rc557c8e4663d47c2"/>
    <p:sldId xmlns:r="http://schemas.openxmlformats.org/officeDocument/2006/relationships" id="263" r:id="R9010abf2b99f44be"/>
    <p:sldId xmlns:r="http://schemas.openxmlformats.org/officeDocument/2006/relationships" id="264" r:id="R3511726d0a7d474f"/>
    <p:sldId xmlns:r="http://schemas.openxmlformats.org/officeDocument/2006/relationships" id="265" r:id="Rfddd1d306c0242c5"/>
    <p:sldId xmlns:r="http://schemas.openxmlformats.org/officeDocument/2006/relationships" id="266" r:id="R66d0d9aec37b434d"/>
    <p:sldId xmlns:r="http://schemas.openxmlformats.org/officeDocument/2006/relationships" id="267" r:id="R874c307db3b44081"/>
    <p:sldId xmlns:r="http://schemas.openxmlformats.org/officeDocument/2006/relationships" id="268" r:id="Rf950efded3644750"/>
    <p:sldId xmlns:r="http://schemas.openxmlformats.org/officeDocument/2006/relationships" id="269" r:id="Rb8cf0c3e89f04e61"/>
    <p:sldId xmlns:r="http://schemas.openxmlformats.org/officeDocument/2006/relationships" id="270" r:id="R2f330ec4355d4b3c"/>
    <p:sldId xmlns:r="http://schemas.openxmlformats.org/officeDocument/2006/relationships" id="271" r:id="Rbc3040ff1a0743b8"/>
  </p:sldIdLst>
  <p:sldSz cx="12192000" cy="6858000"/>
  <p:notesSz cx="6858000" cy="9144000"/>
  <p:embeddedFontLst>
    <p:embeddedFont>
      <p:font typeface="OpenAI Sans"/>
      <p:regular xmlns:r="http://schemas.openxmlformats.org/officeDocument/2006/relationships" r:id="R58c256ae08124e29"/>
      <p:bold xmlns:r="http://schemas.openxmlformats.org/officeDocument/2006/relationships" r:id="Red2e5af4609245ca"/>
      <p:italic xmlns:r="http://schemas.openxmlformats.org/officeDocument/2006/relationships" r:id="R514cde7aef8646fc"/>
      <p:boldItalic xmlns:r="http://schemas.openxmlformats.org/officeDocument/2006/relationships" r:id="Rfd85251e23d0403d"/>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f2aa55777a14469" /><Relationship Type="http://schemas.openxmlformats.org/officeDocument/2006/relationships/slideMaster" Target="/ppt/slideMasters/slideMaster1.xml" Id="R7f1038b90229445a" /><Relationship Type="http://schemas.openxmlformats.org/officeDocument/2006/relationships/notesMaster" Target="/ppt/notesMasters/notesMaster1.xml" Id="Rc88296bc844b4a3c" /><Relationship Type="http://schemas.openxmlformats.org/officeDocument/2006/relationships/presProps" Target="/ppt/presProps.xml" Id="R8fb5455a63384902" /><Relationship Type="http://schemas.openxmlformats.org/officeDocument/2006/relationships/viewProps" Target="/ppt/viewProps.xml" Id="R5d7f54330fa64ec4" /><Relationship Type="http://schemas.openxmlformats.org/officeDocument/2006/relationships/tableStyles" Target="/ppt/tableStyles.xml" Id="R6af9be8edbb94e21" /><Relationship Type="http://schemas.openxmlformats.org/officeDocument/2006/relationships/font" Target="/ppt/fonts/font.dat" Id="R58c256ae08124e29" /><Relationship Type="http://schemas.openxmlformats.org/officeDocument/2006/relationships/font" Target="/ppt/fonts/font2.dat" Id="Red2e5af4609245ca" /><Relationship Type="http://schemas.openxmlformats.org/officeDocument/2006/relationships/font" Target="/ppt/fonts/font3.dat" Id="R514cde7aef8646fc" /><Relationship Type="http://schemas.openxmlformats.org/officeDocument/2006/relationships/font" Target="/ppt/fonts/font4.dat" Id="Rfd85251e23d0403d" /><Relationship Type="http://schemas.openxmlformats.org/officeDocument/2006/relationships/slide" Target="/ppt/slides/slide1.xml" Id="Ra357e02f9f724a77" /><Relationship Type="http://schemas.openxmlformats.org/officeDocument/2006/relationships/slide" Target="/ppt/slides/slide2.xml" Id="Ra8b899cd746244a9" /><Relationship Type="http://schemas.openxmlformats.org/officeDocument/2006/relationships/slide" Target="/ppt/slides/slide3.xml" Id="Rcfe829116b2a40b9" /><Relationship Type="http://schemas.openxmlformats.org/officeDocument/2006/relationships/slide" Target="/ppt/slides/slide4.xml" Id="Rd2be72814dd44f2b" /><Relationship Type="http://schemas.openxmlformats.org/officeDocument/2006/relationships/slide" Target="/ppt/slides/slide5.xml" Id="Re1aaa5da33a44fa6" /><Relationship Type="http://schemas.openxmlformats.org/officeDocument/2006/relationships/slide" Target="/ppt/slides/slide6.xml" Id="R92a7dfb96a444e3a" /><Relationship Type="http://schemas.openxmlformats.org/officeDocument/2006/relationships/slide" Target="/ppt/slides/slide7.xml" Id="Rc557c8e4663d47c2" /><Relationship Type="http://schemas.openxmlformats.org/officeDocument/2006/relationships/slide" Target="/ppt/slides/slide8.xml" Id="R9010abf2b99f44be" /><Relationship Type="http://schemas.openxmlformats.org/officeDocument/2006/relationships/slide" Target="/ppt/slides/slide9.xml" Id="R3511726d0a7d474f" /><Relationship Type="http://schemas.openxmlformats.org/officeDocument/2006/relationships/slide" Target="/ppt/slides/slide10.xml" Id="Rfddd1d306c0242c5" /><Relationship Type="http://schemas.openxmlformats.org/officeDocument/2006/relationships/slide" Target="/ppt/slides/slide11.xml" Id="R66d0d9aec37b434d" /><Relationship Type="http://schemas.openxmlformats.org/officeDocument/2006/relationships/slide" Target="/ppt/slides/slide12.xml" Id="R874c307db3b44081" /><Relationship Type="http://schemas.openxmlformats.org/officeDocument/2006/relationships/slide" Target="/ppt/slides/slide13.xml" Id="Rf950efded3644750" /><Relationship Type="http://schemas.openxmlformats.org/officeDocument/2006/relationships/slide" Target="/ppt/slides/slide14.xml" Id="Rb8cf0c3e89f04e61" /><Relationship Type="http://schemas.openxmlformats.org/officeDocument/2006/relationships/slide" Target="/ppt/slides/slide15.xml" Id="R2f330ec4355d4b3c" /><Relationship Type="http://schemas.openxmlformats.org/officeDocument/2006/relationships/slide" Target="/ppt/slides/slide16.xml" Id="Rbc3040ff1a0743b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fb3ee296a140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95241a86af24f0a" /><Relationship Type="http://schemas.openxmlformats.org/officeDocument/2006/relationships/notesMaster" Target="/ppt/notesMasters/notesMaster1.xml" Id="R1fe0c09539834c23" /></Relationships>
</file>

<file path=ppt/notesSlides/_rels/notesSlide2.xml.rels>&#65279;<?xml version="1.0" encoding="utf-8"?><Relationships xmlns="http://schemas.openxmlformats.org/package/2006/relationships"><Relationship Type="http://schemas.openxmlformats.org/officeDocument/2006/relationships/slide" Target="/ppt/slides/slide2.xml" Id="R901893277388434a" /><Relationship Type="http://schemas.openxmlformats.org/officeDocument/2006/relationships/notesMaster" Target="/ppt/notesMasters/notesMaster1.xml" Id="R2ef77222cf6548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3d4b15539444e1" /><Relationship Type="http://schemas.openxmlformats.org/officeDocument/2006/relationships/notesMaster" Target="/ppt/notesMasters/notesMaster1.xml" Id="R89ff8e860a1949ad" /></Relationships>
</file>

<file path=ppt/notesSlides/_rels/notesSlide4.xml.rels>&#65279;<?xml version="1.0" encoding="utf-8"?><Relationships xmlns="http://schemas.openxmlformats.org/package/2006/relationships"><Relationship Type="http://schemas.openxmlformats.org/officeDocument/2006/relationships/slide" Target="/ppt/slides/slide4.xml" Id="Ra0b1b758ecc44b56" /><Relationship Type="http://schemas.openxmlformats.org/officeDocument/2006/relationships/notesMaster" Target="/ppt/notesMasters/notesMaster1.xml" Id="R6e0bedddc2594c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6251e61ac286410c" /><Relationship Type="http://schemas.openxmlformats.org/officeDocument/2006/relationships/notesMaster" Target="/ppt/notesMasters/notesMaster1.xml" Id="Rf631d6ca9832460d" /></Relationships>
</file>

<file path=ppt/notesSlides/_rels/notesSlide6.xml.rels>&#65279;<?xml version="1.0" encoding="utf-8"?><Relationships xmlns="http://schemas.openxmlformats.org/package/2006/relationships"><Relationship Type="http://schemas.openxmlformats.org/officeDocument/2006/relationships/slide" Target="/ppt/slides/slide6.xml" Id="R62060cef9efb4e8b" /><Relationship Type="http://schemas.openxmlformats.org/officeDocument/2006/relationships/notesMaster" Target="/ppt/notesMasters/notesMaster1.xml" Id="R8f88116924464d73" /></Relationships>
</file>

<file path=ppt/notesSlides/_rels/notesSlide7.xml.rels>&#65279;<?xml version="1.0" encoding="utf-8"?><Relationships xmlns="http://schemas.openxmlformats.org/package/2006/relationships"><Relationship Type="http://schemas.openxmlformats.org/officeDocument/2006/relationships/slide" Target="/ppt/slides/slide7.xml" Id="R7a149e08a1cc4855" /><Relationship Type="http://schemas.openxmlformats.org/officeDocument/2006/relationships/notesMaster" Target="/ppt/notesMasters/notesMaster1.xml" Id="R69d831a9d32942a9" /></Relationships>
</file>

<file path=ppt/notesSlides/_rels/notesSlide8.xml.rels>&#65279;<?xml version="1.0" encoding="utf-8"?><Relationships xmlns="http://schemas.openxmlformats.org/package/2006/relationships"><Relationship Type="http://schemas.openxmlformats.org/officeDocument/2006/relationships/slide" Target="/ppt/slides/slide8.xml" Id="R014e74e707e34325" /><Relationship Type="http://schemas.openxmlformats.org/officeDocument/2006/relationships/notesMaster" Target="/ppt/notesMasters/notesMaster1.xml" Id="Ra0241f662975441c" /></Relationships>
</file>

<file path=ppt/notesSlides/_rels/notesSlide9.xml.rels>&#65279;<?xml version="1.0" encoding="utf-8"?><Relationships xmlns="http://schemas.openxmlformats.org/package/2006/relationships"><Relationship Type="http://schemas.openxmlformats.org/officeDocument/2006/relationships/slide" Target="/ppt/slides/slide9.xml" Id="Rec9e66f5399d4a1b" /><Relationship Type="http://schemas.openxmlformats.org/officeDocument/2006/relationships/notesMaster" Target="/ppt/notesMasters/notesMaster1.xml" Id="R013fb3dce5b54d1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a2e3749e3e74f84" /><Relationship Type="http://schemas.openxmlformats.org/officeDocument/2006/relationships/notesMaster" Target="/ppt/notesMasters/notesMaster1.xml" Id="R14f52f322c55418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932b991c23f4452" /><Relationship Type="http://schemas.openxmlformats.org/officeDocument/2006/relationships/notesMaster" Target="/ppt/notesMasters/notesMaster1.xml" Id="Rb2c0f1274eb94ad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d18e7e247834c52" /><Relationship Type="http://schemas.openxmlformats.org/officeDocument/2006/relationships/notesMaster" Target="/ppt/notesMasters/notesMaster1.xml" Id="R92701fe2879e46a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0f44843879f4f4b" /><Relationship Type="http://schemas.openxmlformats.org/officeDocument/2006/relationships/notesMaster" Target="/ppt/notesMasters/notesMaster1.xml" Id="Rb5e2ce026565406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8840008bd3f4502" /><Relationship Type="http://schemas.openxmlformats.org/officeDocument/2006/relationships/notesMaster" Target="/ppt/notesMasters/notesMaster1.xml" Id="R75cd902d8ca847a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41e1aa88be4436e" /><Relationship Type="http://schemas.openxmlformats.org/officeDocument/2006/relationships/notesMaster" Target="/ppt/notesMasters/notesMaster1.xml" Id="R2c638855ea2747e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a0fc7f2ae9343fe" /><Relationship Type="http://schemas.openxmlformats.org/officeDocument/2006/relationships/notesMaster" Target="/ppt/notesMasters/notesMaster1.xml" Id="R60e17ef2bf5c43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Я покажу набор скиллов, который помогает пройти путь от документа требований до тест-кейсов, независимого ревью и запуска автотестов в самом проекте. Скилл здесь означает инструкцию для модели с определённой задачей и форматом результата. Рядом находятся скрипты, которые проверяют артефакты и выполняют разрешённые операции. Главное обещание этой системы: результат можно проверить по сохранённым данным. Сегодня разберём устройство, реальный пример на Spring Petclinic и то, что ещё нужно подтвердить перед широким применением. Текущий статус пакета: пилот, implemented_unverified.</a:t>
            </a:r>
            <a:endParaRPr/>
          </a:p>
          <a:p xmlns:a="http://schemas.openxmlformats.org/drawingml/2006/main">
            <a:r>
              <a:t/>
            </a:r>
            <a:endParaRPr/>
          </a:p>
          <a:p xmlns:a="http://schemas.openxmlformats.org/drawingml/2006/main">
            <a:r>
              <a:t>Источники: README.md, HOW-IT-WORKS.md, release/manifest.json. Снимок 07.09.2026.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Начинаем с задачи команды. Требование нужно превратить в проверяемый сценарий, затем решить, можно ли его автоматизировать, написать тест и объяснить результат. При ручном переходе между этими шагами легко потерять условие, придумать лишнюю проверку или принять зелёный отчёт без связи с задачей. Пайплайн делает эти переходы явными. Есть два профиля. cases-only-v1 заканчивается проверенными тест-кейсами: код проекта не запускается. Это самостоятельный результат для ручного тестирования и обсуждения требований. local-pilot-v1 продолжает путь до автотестов и запуска. Для него нужно разрешение на выполнение в выбранном проекте. HTML удобен человеку, JSON хранит смысл сценариев, CSV служит выгрузкой. Команда выбирает объём работы под задачу. Качество исходных требований по-прежнему важно: если поведение не определено, модель не должна молча придумывать продуктовую спецификацию.</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Источники: README.md: два профиля, canonical JSON; USAGE.md.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Почему имеет смысл попробовать именно такой подход? Первое преимущество — проверка содержания до исполнения. Мы можем остановить ошибочный сценарий до того, как он станет кодом. Второе — возможность разобрать результат: есть конкретные файлы, версия и связь с требованием. Третье — работа рядом с существующим проектом через его обычные тестовые средства. Эти свойства особенно полезны, когда команда регулярно переводит требования в набор проверок и хочет сократить ручное связывание документов. Это инженерные основания для пилота, а не доказанный процент экономии. Для одноразовой маленькой проверки стоимость всего процесса может оказаться выше пользы. Если нет ясных требований или рабочего окружения, сначала нужно подготовить их. Решение об использовании принимаем по качеству и цене результата в собственной команде.</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Источники: README.md; USAGE.md; contracts/pipeline.json. Оценка применимости является предложением, не результатом сравнительного исследования.</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Здесь полезно разделить содержание и выполнение. Orchestrate координирует этапы и продолжение работы. Context Marker формирует контекст с происхождением требований и ограничениями. TC Generator проектирует сценарии. TC Reviewer получает отдельный свежий вызов для проверки: это независимость вызова и роли, а не гарантия, что другая модель никогда не повторит ошибку. TC to Autotest переводит принятые сценарии в код. Autotest Reviewer делает отдельную статическую проверку кода до запуска. Совместимая CLI управляет вызовами модели. Python-инструменты проверяют структуры, фиксируют файлы, их контрольные суммы и результаты, затем вызывают штатный тестовый инструмент проекта. Поэтому скрипты не заменяют продуктовую оценку модели, а модель не заменяет механические проверки. Если возникает замечание, процесс должен сохранить его и предусмотренное контрактом продолжение. Наличие шести ролей само по себе не доказывает качество: доказательства появляются на выходах этих ролей и в реальном исполнении.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Источники: skills/*/SKILL.md; contracts/pipeline.json: stage_registry и reviewer policy.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В корне README даёт общую картину, USAGE объясняет запуск, HOW-IT-WORKS описывает поток. В skills лежат шесть ролевых инструкций и их справочные материалы. В contracts находится machine-readable pipeline.json: согласованные правила процесса. Schemas задают допустимые структуры документов и отчётов. Tools — обычные Python-модули для инвентаризации, проверки, сохранения артефактов, запуска тестов и финализации. Tests проверяют реализацию самого пакета. Evals описывает квалификационные сценарии, а release хранит манифест состава и подтверждённый статус. Наличие этих папок не означает, что квалификация уже пройдена. Docs содержит эту презентацию, заметки и краткое основание результатов. Это объясняет, почему переносимым элементом является весь пакет: отдельный файл инструкции без контрактов и инструментов не воспроизводит тот же процесс.</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Источники: Фактическое дерево переносимого пакета; README.md; RELEASE.md; release/manifest.json.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Главный результат системы можно представить как цепочку документов. Сначала есть требование и его источник. Затем тест-кейс: что подготовить, что сделать, какие данные использовать, что увидеть. После автоматизации появляется конкретный файл и метод. Наконец, отчёт выполнения привязывается к тому, что действительно проверяли. Это помогает отвечать на обычные вопросы ревью: почему существует этот тест, какая проверка подтверждает требование, что именно упало. Canonical JSON является единственным источником смысла тест-кейсов. Человек читает HTML, а экспорт строится из той же модели. Контрольные суммы и записи журнала связывают проверенные и выполненные файлы. Это снижает риск случайно принять отчёт от другой версии теста. Но сама связь не делает слабое требование сильным и не доказывает полноту всей предметной области. Смысл кейсов нужно оценивать отдельно от технической целостности файлов.</a:t>
            </a:r>
          </a:p>
          <a:p xmlns:a="http://schemas.openxmlformats.org/drawingml/2006/main">
            <a:r>
              <a:t/>
            </a:r>
          </a:p>
          <a:p xmlns:a="http://schemas.openxmlformats.org/drawingml/2006/main">
            <a:r>
              <a:t>Источники: README.md; CONTRACTS.md; tools/pilot_state.py; schemas/canonical-test-document.schema.json.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В полном профиле инструменты запускают только согласованные цели. Исполнителю передаются типизированные параметры и выбранный адаптер, а не произвольная строка shell от модели. Пакет работает в подготовленном проекте: не устанавливает автоматически JDK или зависимости и сам не создаёт песочницу. Исходники приложения, существующие тесты и конфигурация не становятся свободным полем для исправлений ради зелёного результата. Для новых файлов учитываются принадлежность и содержимое. При FAIL правила позволяют убрать только собственные неизменённые сгенерированные файлы, сохранив доказательства в артефактах. При неопределённом результате действует другое правило: неизвестность нельзя использовать как основание для очистки. Для рабочего применения команда должна заранее решить, в какой подготовленной копии проекта это запускается и какие данные разрешены. Ограничения пайплайна не равны изоляции среды.</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Источники: README.md: Execution и generated files, границы; contracts/pipeline.json; tools/execution_adapters.py.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Сначала выбираем одну понятную фичу и документируем ожидаемое поведение. В проекте уже должны работать обычные тестовые средства и зависимости. Затем копируем пакет целиком: одних SKILL.md недостаточно, потому что они ссылаются на схемы, контракты и инструменты. Типичное место: .tools/test-skills. Через совместимую CLI явно просим выполнить skills/orchestrate/SKILL.md из скопированного пакета для нашего документа требований. Указываем проект и модуль. Для первого знакомства можно выбрать cases-only-v1. Для полного прохода указываем local-pilot-v1 и разрешение выполнить выбранные проверенные цели в рамках текущего запуска. Совместимая CLI должна уметь читать инструкции и артефакты, сохранять результаты, выполнять отдельный вызов ревьюера и продолжать незавершённую попытку по сохранённому состоянию. Переносимость пакета означает такой способ подключения. Поддержку каждой конкретной CLI и платформы ещё нужно подтверждать испытаниями.</a:t>
            </a:r>
          </a:p>
          <a:p xmlns:a="http://schemas.openxmlformats.org/drawingml/2006/main">
            <a:r>
              <a:t/>
            </a:r>
          </a:p>
          <a:p xmlns:a="http://schemas.openxmlformats.org/drawingml/2006/main">
            <a:r>
              <a:t>Источники: USAGE.md; README.md: точка входа и профили; tools/compatibility_contract.py.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Теперь о фактическом результате. В большом пилоте проверяли жизненный цикл владельца, питомца и визита в Spring Petclinic. Среда: Windows, Java 17, Maven и H2. Было 64 тест-кейса с 301 шагом. Сгенерированный Java-класс содержал 64 тестовых метода. Ревью тест-кейсов и автоматизации завершилось принятием, после чего был выполнен один Maven-запуск. JUnit зафиксировал 64 теста: 63 прошли, один упал, ошибок выполнения и пропусков не было. Полный связный сценарий жизненного цикла также прошёл. Время JUnit-набора около 35 секунд, нативного процесса около 70 секунд. Это время исполнения тестов, а не всего пайплайна с генерацией и ревью. Мы не заявляем экономию труда или ускорение всего процесса: для этого нужен отдельный сравнительный замер. Пилот выполнен на замороженной более ранней версии пакета. Последующие изменения инструкций не получили здесь задним числом статус проверенных этим прогоном.</a:t>
            </a:r>
          </a:p>
          <a:p xmlns:a="http://schemas.openxmlformats.org/drawingml/2006/main">
            <a:r>
              <a:t/>
            </a:r>
          </a:p>
          <a:p xmlns:a="http://schemas.openxmlformats.org/drawingml/2006/main">
            <a:r>
              <a:t>Источники: docs/pilot-evidence.md. Исторический run b7733d39d74b4a759f3479cde1d21e37, attempt 672dd965f9a142cfa6be6239a131bc76; исходный JUnit SHA-256 b88679453d9cfd12c0bd8da1b10e9a3629c13912b9df04dcf875332efbd3224f.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Разберём упавший тест как пример полезного результата. Требование V05 запрещает сохранение визита с пустой датой. В сценарии используется существующий питомец, в поле даты передаётся пустая строка, описание равно «Первичный осмотр». Ожидание состоит из наблюдаемого поведения формы и отсутствия новой записи. Фактически приложение перенаправило запрос, не вернуло ошибку даты и сохранило визит с null в поле даты. Это проверялось через MockMvc и независимое чтение базы, а не через придуманное описание интерфейса. Чтение базы выполнялось до итогового объединения assertions. Поэтому у нас есть несколько согласованных наблюдений одной проблемы. Приложение в рамках прогона не исправляли, тест не ослабляли. Финальный FAIL сохранил найденное нарушение требования. На выступлении можно остановиться и разобрать вопрос: является ли здесь красный итог плохим результатом работы инструмента? Для тестирования обнаруженный и воспроизводимый дефект как раз полезен. Но решение о приоритете исправления и само исправление остаются задачей команды.</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Источники: docs/pilot-evidence.md; TC-B1-056 / V05 / case056. Архив reviewed Java source, строки 3611–3622; независимый v05-runtime-defect.json.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Этот пример показывает, зачем нам промежуточный тест-кейс. До написания Java-кода можно обсудить правило: действительно ли пустая дата недопустима, что считается ошибкой и что происходит с данными. Затем автоматизация должна сохранить именно этот смысл. В нашем примере проверяется не только статус HTTP-ответа. Проверяется ошибка конкретного поля и отсутствие записи в базе. Один технический сигнал вроде «ответ получен» был бы слишком слабым доказательством. Связь проходит через требование V05, кейс TC-B1-056 и метод case056. Для ручного тестировщика важны исходные условия и ожидаемый результат, для разработчика важен исполняемый запрос и способ проверки данных. Это разные представления одной проверки. Не каждый сценарий обязательно переводится в автотест: ограничения среды, доступные интерфейсы и необходимость ручного наблюдения должны быть отражены в покрытии. Показанный пример использует серверные тестовые средства проекта и не является доказательством проверки поведения в реальном браузере.</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Источники: docs/pilot-evidence.md; schemas/canonical-test-document.schema.json; skills/tc-to-autotest/references/automation-output-contract.md.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Одна зелёная или красная лампочка смешала бы разные вопросы. Закончил ли инструмент работу? Что показали проверки? Какая доля согласованных кейсов автоматизирована? Можно ли принять итог по правилам? В большом прогоне lifecycle равен TERMINAL, completion равен COMPLETE. Это говорит о завершённости попытки. Verification равен FAIL из-за нарушения требования. Coverage равен FULL в рамках canonical-набора. Это не обещание, что проверены все мыслимые сценарии приложения. accepted равен false, а финализация валидна: пайплайн корректно сохранил отрицательный результат. Если тесты нельзя запустить, нужен NOT_RUNNABLE. Если надёжных данных недостаточно, нужен UNKNOWN. Эти ситуации нельзя выдавать за PASS. Для профиля только с кейсами исполнение вообще неприменимо. Читателю отчёта важно видеть причину и доказательства, чтобы понимать следующий шаг: исправлять продукт, окружение, входные данные или сам процесс.</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Источники: README.md: результат; schemas/terminal-result.schema.json; docs/pilot-evidence.md.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Здесь три разных уровня готовности. На уровне реализации собран переносимый пакет: ролевые скиллы, два профиля, закрытые форматы артефактов, процесс ревью, адаптеры pytest, Maven и Gradle, трассировка и финализация. На уровне наблюдаемого результата есть конкретный большой Java-пилот: 64 метода выполнились, нарушение V05 сохранилось в итоговом отчёте. На уровне последующих улучшений исправлен медленный поиск Java-методов на большом классе и уточнены требования к читаемости тест-кейсов. Для последних инструкций есть небольшая выборка из пяти кейсов, а не полный повтор той же фичи. При подготовке публикации отдельно проверена целостность пакета и прошли 24 связанных теста. Эти утверждения нельзя склеивать в «всё проверено везде»: объём доказательств у каждого уровня свой.</a:t>
            </a:r>
          </a:p>
          <a:p xmlns:a="http://schemas.openxmlformats.org/drawingml/2006/main">
            <a:r>
              <a:t/>
            </a:r>
          </a:p>
          <a:p xmlns:a="http://schemas.openxmlformats.org/drawingml/2006/main">
            <a:r>
              <a:t>Источники: docs/pilot-evidence.md; release/manifest.json; contracts/pipeline.json; текущие skills и tools.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Один большой пилот подтверждает конкретный путь на конкретном проекте и окружении. Он не заменяет квалификационную кампанию. В release manifest текущего пакета остаются implemented_unverified и ready_tuple=null. Это честное описание стадии. Есть несколько направлений следующей проверки. Во-первых, повторяемость на задачах разного типа. Во-вторых, переносимость на выбранные CLI и платформы. В-третьих, читаемость: сможет ли тестировщик, который не участвовал в генерации, выполнить сценарий без расшифровки внутренних терминов? После пилота инструкции по читаемости уточнялись и проверялись на небольшой выборке из пяти сценариев, но это не полный повтор большого прогона. Наконец, стоимость: сколько времени и денег стоит получить пригодный результат, сколько исправляет человек. Пока нет контролируемого сравнения, нельзя обещать процент экономии. XML-экспорт для Zephyr также не стоит представлять как подтверждённую интеграцию с реальным рабочим tenant: статус observed/unverified сохраняется.</a:t>
            </a:r>
          </a:p>
          <a:p xmlns:a="http://schemas.openxmlformats.org/drawingml/2006/main">
            <a:r>
              <a:t/>
            </a:r>
          </a:p>
          <a:p xmlns:a="http://schemas.openxmlformats.org/drawingml/2006/main">
            <a:r>
              <a:t>Источники: release/manifest.json; README.md: Zephyr; docs/pilot-evidence.md: границы свидетельств. Локальный отчёт PILOT-RESULTS-REVIEW-2026-09-07.md, выборка пяти сценариев.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Предложение для команды: выбрать одну небольшую, но содержательную фичу, для которой есть понятные требования и рабочее тестовое окружение. До запуска договориться, что считается пригодным результатом. Например, кейсы понятны человеку, ключевые условия не потеряны, автотесты реализуют заявленные проверки, результат воспроизводится штатными средствами проекта. Замерить фактическое время, стоимость и ручные доработки. Отдельно разобрать найденные дефекты и ложные срабатывания. Это позволит обсуждать полезность на материале нашей команды, а не только на демонстрационном проекте. Предлагаемый следующий пилот является планом, а не уже выполненной работой.</a:t>
            </a:r>
            <a:endParaRPr/>
          </a:p>
          <a:p xmlns:a="http://schemas.openxmlformats.org/drawingml/2006/main">
            <a:r>
              <a:t/>
            </a:r>
            <a:endParaRPr/>
          </a:p>
          <a:p xmlns:a="http://schemas.openxmlformats.org/drawingml/2006/main">
            <a:r>
              <a:t>Источники: Предложение по следующему применению на основе результатов пилота. Не является измеренным результатом.</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Для обсуждения предлагаю три конкретных вопроса. Какая фича даст полезную первую проверку? Кто сможет независимо оценить получившиеся тест-кейсы и автотесты? По каким наблюдаемым критериям мы решим, что инструмент стоит применять дальше? Пакет и эта презентация находятся в одном репозитории. Детали запуска описаны в USAGE.md, краткая граница подтверждённых результатов и ссылки на доказательства представлены в docs/pilot-evidence.md. При необходимости вернёмся к примеру с пустой датой и обсудим, достаточно ли там наблюдений для нашей практики тестирования.</a:t>
            </a:r>
            <a:endParaRPr/>
          </a:p>
          <a:p xmlns:a="http://schemas.openxmlformats.org/drawingml/2006/main">
            <a:r>
              <a:t/>
            </a:r>
            <a:endParaRPr/>
          </a:p>
          <a:p xmlns:a="http://schemas.openxmlformats.org/drawingml/2006/main">
            <a:r>
              <a:t>Источники: USAGE.md; docs/pilot-evidence.md; https://github.com/IxFire-X/test-skills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54da414e54469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ff532396a8a4c5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8acec5e0dfe497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1dce8efa10a43a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7f726f8ff08473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b63e16ccf8645e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5d6a9a7876d4eb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3985b51079645b6"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98918c61cae422e" /><Relationship Type="http://schemas.openxmlformats.org/officeDocument/2006/relationships/slideLayout" Target="/ppt/slideLayouts/slideLayout1.xml" Id="R58a33aec0dc7464d" /><Relationship Type="http://schemas.openxmlformats.org/officeDocument/2006/relationships/slideLayout" Target="/ppt/slideLayouts/slideLayout2.xml" Id="R8c81734fea6b4590" /><Relationship Type="http://schemas.openxmlformats.org/officeDocument/2006/relationships/slideLayout" Target="/ppt/slideLayouts/slideLayout3.xml" Id="R6432211bd9da43f0" /><Relationship Type="http://schemas.openxmlformats.org/officeDocument/2006/relationships/slideLayout" Target="/ppt/slideLayouts/slideLayout4.xml" Id="R5cfc88b3e1b24eec" /><Relationship Type="http://schemas.openxmlformats.org/officeDocument/2006/relationships/slideLayout" Target="/ppt/slideLayouts/slideLayout5.xml" Id="Re0088049b4d64c6b" /><Relationship Type="http://schemas.openxmlformats.org/officeDocument/2006/relationships/slideLayout" Target="/ppt/slideLayouts/slideLayout6.xml" Id="Re0aa97023a3947d3" /><Relationship Type="http://schemas.openxmlformats.org/officeDocument/2006/relationships/slideLayout" Target="/ppt/slideLayouts/slideLayout7.xml" Id="R516478b6065a4091" /><Relationship Type="http://schemas.openxmlformats.org/officeDocument/2006/relationships/slideLayout" Target="/ppt/slideLayouts/slideLayout8.xml" Id="R7dc18c29afbb49b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58a33aec0dc7464d"/>
    <p:sldLayoutId xmlns:r="http://schemas.openxmlformats.org/officeDocument/2006/relationships" id="2147483650" r:id="R8c81734fea6b4590"/>
    <p:sldLayoutId xmlns:r="http://schemas.openxmlformats.org/officeDocument/2006/relationships" id="2147483651" r:id="R6432211bd9da43f0"/>
    <p:sldLayoutId xmlns:r="http://schemas.openxmlformats.org/officeDocument/2006/relationships" id="2147483652" r:id="R5cfc88b3e1b24eec"/>
    <p:sldLayoutId xmlns:r="http://schemas.openxmlformats.org/officeDocument/2006/relationships" id="2147483653" r:id="Re0088049b4d64c6b"/>
    <p:sldLayoutId xmlns:r="http://schemas.openxmlformats.org/officeDocument/2006/relationships" id="2147483654" r:id="Re0aa97023a3947d3"/>
    <p:sldLayoutId xmlns:r="http://schemas.openxmlformats.org/officeDocument/2006/relationships" id="2147483655" r:id="R516478b6065a4091"/>
    <p:sldLayoutId xmlns:r="http://schemas.openxmlformats.org/officeDocument/2006/relationships" id="2147483656" r:id="R7dc18c29afbb49bf"/>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ebc91ed182349f9" /><Relationship Type="http://schemas.openxmlformats.org/officeDocument/2006/relationships/image" Target="/ppt/media/image.png" Id="R7988e69daa86446c" /><Relationship Type="http://schemas.openxmlformats.org/officeDocument/2006/relationships/notesSlide" Target="/ppt/notesSlides/notesSlide1.xml" Id="R5e24e745d8e344f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50cf321cb654b76" /><Relationship Type="http://schemas.openxmlformats.org/officeDocument/2006/relationships/notesSlide" Target="/ppt/notesSlides/notesSlide2.xml" Id="Rcd1a53ed7fad46d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e2b84a840f54c03" /><Relationship Type="http://schemas.openxmlformats.org/officeDocument/2006/relationships/notesSlide" Target="/ppt/notesSlides/notesSlide3.xml" Id="Ra3f617b0aa5c49e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4deb60f337d4253" /><Relationship Type="http://schemas.openxmlformats.org/officeDocument/2006/relationships/notesSlide" Target="/ppt/notesSlides/notesSlide4.xml" Id="Re1b026ffa9ee4a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af6f2de2753440e" /><Relationship Type="http://schemas.openxmlformats.org/officeDocument/2006/relationships/notesSlide" Target="/ppt/notesSlides/notesSlide5.xml" Id="R6a349ee680cf401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cdc849722cb4709" /><Relationship Type="http://schemas.openxmlformats.org/officeDocument/2006/relationships/notesSlide" Target="/ppt/notesSlides/notesSlide6.xml" Id="R812bc7aa69ed445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2ebd5f12f4b4649" /><Relationship Type="http://schemas.openxmlformats.org/officeDocument/2006/relationships/notesSlide" Target="/ppt/notesSlides/notesSlide7.xml" Id="R7a16feac01824de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fb19793005d4743" /><Relationship Type="http://schemas.openxmlformats.org/officeDocument/2006/relationships/notesSlide" Target="/ppt/notesSlides/notesSlide8.xml" Id="R55ad583f8d8c4ed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a1f8082743f4077" /><Relationship Type="http://schemas.openxmlformats.org/officeDocument/2006/relationships/notesSlide" Target="/ppt/notesSlides/notesSlide9.xml" Id="Rba35e3e08ce34f5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b93c1d49637d4b9a" /><Relationship Type="http://schemas.openxmlformats.org/officeDocument/2006/relationships/notesSlide" Target="/ppt/notesSlides/notesSlide10.xml" Id="Ra7db8add3c9f463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1763fae70684af8" /><Relationship Type="http://schemas.openxmlformats.org/officeDocument/2006/relationships/notesSlide" Target="/ppt/notesSlides/notesSlide11.xml" Id="R9330c01dd7db497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7f6a2ef302c4368" /><Relationship Type="http://schemas.openxmlformats.org/officeDocument/2006/relationships/notesSlide" Target="/ppt/notesSlides/notesSlide12.xml" Id="R1791f7385f3f463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b288e0a7cbc4b2d" /><Relationship Type="http://schemas.openxmlformats.org/officeDocument/2006/relationships/notesSlide" Target="/ppt/notesSlides/notesSlide13.xml" Id="R8acdbfb44fa04e4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cb98f4d70c74dd2" /><Relationship Type="http://schemas.openxmlformats.org/officeDocument/2006/relationships/notesSlide" Target="/ppt/notesSlides/notesSlide14.xml" Id="R264d991623cd41c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591ef6f291440ef" /><Relationship Type="http://schemas.openxmlformats.org/officeDocument/2006/relationships/notesSlide" Target="/ppt/notesSlides/notesSlide15.xml" Id="R03ff74c957f44e8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96038a7a6db4a25" /><Relationship Type="http://schemas.openxmlformats.org/officeDocument/2006/relationships/notesSlide" Target="/ppt/notesSlides/notesSlide16.xml" Id="R723edefa938e4cb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415733" y="1907316"/>
            <a:ext cx="7174888" cy="2491490"/>
          </a:xfrm>
        </p:spPr>
        <p:txBody>
          <a:bodyPr xmlns:a="http://schemas.openxmlformats.org/drawingml/2006/main" anchor="ctr">
            <a:noAutofit/>
          </a:bodyPr>
          <a:lstStyle xmlns:a="http://schemas.openxmlformats.org/drawingml/2006/main"/>
          <a:p xmlns:a="http://schemas.openxmlformats.org/drawingml/2006/main">
            <a:r>
              <a:rPr sz="4800"/>
              <a:t>Переносимый</a:t>
            </a:r>
          </a:p>
          <a:p xmlns:a="http://schemas.openxmlformats.org/drawingml/2006/main">
            <a:r>
              <a:rPr sz="4800"/>
              <a:t>пайплайн</a:t>
            </a:r>
          </a:p>
          <a:p xmlns:a="http://schemas.openxmlformats.org/drawingml/2006/main">
            <a:r>
              <a:rPr sz="4800"/>
              <a:t>тестирования</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415733" y="5264722"/>
            <a:ext cx="6910483" cy="1080246"/>
          </a:xfrm>
        </p:spPr>
        <p:txBody>
          <a:bodyPr xmlns:a="http://schemas.openxmlformats.org/drawingml/2006/main" anchor="b">
            <a:noAutofit/>
          </a:bodyPr>
          <a:lstStyle xmlns:a="http://schemas.openxmlformats.org/drawingml/2006/main"/>
          <a:p xmlns:a="http://schemas.openxmlformats.org/drawingml/2006/main">
            <a:r>
              <a:rPr sz="1800"/>
              <a:t>От требований к тест-кейсам</a:t>
            </a:r>
          </a:p>
          <a:p xmlns:a="http://schemas.openxmlformats.org/drawingml/2006/main">
            <a:r>
              <a:rPr sz="1800"/>
              <a:t>и проверяемому запуску</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415734" y="392241"/>
            <a:ext cx="57023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1800"/>
              <a:t>TEST SKILLS / ПИЛОТ</a:t>
            </a:r>
          </a:p>
        </p:txBody>
      </p:sp>
      <p:pic>
        <p:nvPicPr>
          <p:cNvPr id="11" name="Picture 6"/>
          <p:cNvPicPr>
            <a:picLocks xmlns:a="http://schemas.openxmlformats.org/drawingml/2006/main" noChangeAspect="1"/>
          </p:cNvPicPr>
          <p:nvPr/>
        </p:nvPicPr>
        <p:blipFill>
          <a:blip xmlns:r="http://schemas.openxmlformats.org/officeDocument/2006/relationships" xmlns:a="http://schemas.openxmlformats.org/drawingml/2006/main" r:embed="R7988e69daa86446c"/>
          <a:srcRect xmlns:a="http://schemas.openxmlformats.org/drawingml/2006/main" l="8269" t="0" r="8269" b="0"/>
          <a:stretch xmlns:a="http://schemas.openxmlformats.org/drawingml/2006/main"/>
        </p:blipFill>
        <p:spPr>
          <a:xfrm xmlns:a="http://schemas.openxmlformats.org/drawingml/2006/main">
            <a:off x="7899094" y="0"/>
            <a:ext cx="4292906" cy="6858000"/>
          </a:xfrm>
          <a:prstGeom xmlns:a="http://schemas.openxmlformats.org/drawingml/2006/main" prst="rect">
            <a:avLst/>
          </a:prstGeom>
        </p:spPr>
      </p:pic>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2</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sz="3200"/>
              <a:t>Один вход, два полезных результата</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200">
                <a:latin typeface="Helvetica Neue"/>
                <a:ea typeface="Helvetica Neue"/>
                <a:cs typeface="Helvetica Neue"/>
              </a:rPr>
              <a:t>Тест-кейсы</a:t>
            </a:r>
          </a:p>
          <a:p xmlns:a="http://schemas.openxmlformats.org/drawingml/2006/main">
            <a:pPr marL="0" indent="0">
              <a:lnSpc>
                <a:spcPct val="114000"/>
              </a:lnSpc>
              <a:spcBef>
                <a:spcPts val="0"/>
              </a:spcBef>
              <a:spcAft>
                <a:spcPts val="800"/>
              </a:spcAft>
              <a:buFont typeface="Arial"/>
              <a:buNone/>
            </a:pPr>
            <a:r>
              <a:rPr sz="2200">
                <a:latin typeface="Helvetica Neue"/>
                <a:ea typeface="Helvetica Neue"/>
                <a:cs typeface="Helvetica Neue"/>
              </a:rPr>
              <a:t>Документ требований превращается в сценарии с условиями, шагами и наблюдаемым результатом.</a:t>
            </a:r>
          </a:p>
          <a:p xmlns:a="http://schemas.openxmlformats.org/drawingml/2006/main">
            <a:pPr marL="0" indent="0">
              <a:lnSpc>
                <a:spcPct val="114000"/>
              </a:lnSpc>
              <a:spcBef>
                <a:spcPts val="0"/>
              </a:spcBef>
              <a:spcAft>
                <a:spcPts val="800"/>
              </a:spcAft>
              <a:buFont typeface="Arial"/>
              <a:buNone/>
            </a:pPr>
            <a:r>
              <a:rPr sz="2200">
                <a:latin typeface="Helvetica Neue"/>
                <a:ea typeface="Helvetica Neue"/>
                <a:cs typeface="Helvetica Neue"/>
              </a:rPr>
              <a:t>Отдельное ревью. JSON, HTML и CSV.</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200">
                <a:latin typeface="Helvetica Neue"/>
                <a:ea typeface="Helvetica Neue"/>
                <a:cs typeface="Helvetica Neue"/>
              </a:rPr>
              <a:t>Тест-кейсы и автотесты</a:t>
            </a:r>
          </a:p>
          <a:p xmlns:a="http://schemas.openxmlformats.org/drawingml/2006/main">
            <a:pPr marL="0" indent="0">
              <a:lnSpc>
                <a:spcPct val="114000"/>
              </a:lnSpc>
              <a:spcBef>
                <a:spcPts val="0"/>
              </a:spcBef>
              <a:spcAft>
                <a:spcPts val="800"/>
              </a:spcAft>
              <a:buNone/>
            </a:pPr>
            <a:r>
              <a:rPr sz="2200">
                <a:latin typeface="Helvetica Neue"/>
                <a:ea typeface="Helvetica Neue"/>
                <a:cs typeface="Helvetica Neue"/>
              </a:rPr>
              <a:t>После ревью создаётся код тестов и запускается выбранными средствами проекта.</a:t>
            </a:r>
          </a:p>
          <a:p xmlns:a="http://schemas.openxmlformats.org/drawingml/2006/main">
            <a:pPr marL="0" indent="0">
              <a:lnSpc>
                <a:spcPct val="114000"/>
              </a:lnSpc>
              <a:spcBef>
                <a:spcPts val="0"/>
              </a:spcBef>
              <a:spcAft>
                <a:spcPts val="800"/>
              </a:spcAft>
              <a:buNone/>
            </a:pPr>
            <a:r>
              <a:rPr sz="2200">
                <a:latin typeface="Helvetica Neue"/>
                <a:ea typeface="Helvetica Neue"/>
                <a:cs typeface="Helvetica Neue"/>
              </a:rPr>
              <a:t>Сохраняются отчёты и связь с требованиями.</a:t>
            </a:r>
          </a:p>
        </p:txBody>
      </p:sp>
    </p:spTree>
    <p:extLst>
      <p:ext uri="{BB962C8B-B14F-4D97-AF65-F5344CB8AC3E}">
        <p14:creationId xmlns:p14="http://schemas.microsoft.com/office/powerpoint/2010/main" val="366718214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FBA02CCA-F21B-9365-60C4-CCFEB9244CCA}"/>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3B21B056-C0DC-9927-7975-E8A8720D325A}"/>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3</a:t>
            </a:fld>
            <a:endParaRPr/>
          </a:p>
        </p:txBody>
      </p:sp>
      <p:sp>
        <p:nvSpPr>
          <p:cNvPr id="533" name="Google Shape;533;p58">
            <a:extLst xmlns:a="http://schemas.openxmlformats.org/drawingml/2006/main">
              <a:ext uri="{FF2B5EF4-FFF2-40B4-BE49-F238E27FC236}">
                <a16:creationId xmlns:a16="http://schemas.microsoft.com/office/drawing/2014/main" id="{62D86C57-5A36-A9CA-FBAE-7FD6A93121B0}"/>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sz="3200"/>
              <a:t>Зачем использовать этот пайплайн</a:t>
            </a:r>
          </a:p>
        </p:txBody>
      </p:sp>
      <p:sp>
        <p:nvSpPr>
          <p:cNvPr id="5" name="Google Shape;558;p61">
            <a:extLst xmlns:a="http://schemas.openxmlformats.org/drawingml/2006/main">
              <a:ext uri="{FF2B5EF4-FFF2-40B4-BE49-F238E27FC236}">
                <a16:creationId xmlns:a16="http://schemas.microsoft.com/office/drawing/2014/main" id="{CF52371F-8816-97E4-7F6A-234DB3FEF95A}"/>
              </a:ext>
            </a:extLst>
          </p:cNvPr>
          <p:cNvSpPr>
            <a:spLocks xmlns:a="http://schemas.openxmlformats.org/drawingml/2006/main" noGrp="1"/>
          </p:cNvSpPr>
          <p:nvPr/>
        </p:nvSpPr>
        <p:spPr>
          <a:xfrm xmlns:a="http://schemas.openxmlformats.org/drawingml/2006/main">
            <a:off x="393700" y="4013200"/>
            <a:ext cx="3568700" cy="19812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100">
                <a:latin typeface="Helvetica Neue"/>
                <a:ea typeface="Helvetica Neue"/>
                <a:cs typeface="Helvetica Neue"/>
              </a:rPr>
              <a:t>Ревью до запуска</a:t>
            </a:r>
          </a:p>
          <a:p xmlns:a="http://schemas.openxmlformats.org/drawingml/2006/main">
            <a:pPr marL="0" indent="0">
              <a:lnSpc>
                <a:spcPct val="114000"/>
              </a:lnSpc>
              <a:spcBef>
                <a:spcPts val="0"/>
              </a:spcBef>
              <a:spcAft>
                <a:spcPts val="800"/>
              </a:spcAft>
              <a:buFont typeface="Arial"/>
              <a:buNone/>
            </a:pPr>
            <a:r>
              <a:rPr sz="2100">
                <a:latin typeface="Helvetica Neue"/>
                <a:ea typeface="Helvetica Neue"/>
                <a:cs typeface="Helvetica Neue"/>
              </a:rPr>
              <a:t>Кейсы и код проходят отдельную проверку. Замечания становятся частью процесса.</a:t>
            </a:r>
          </a:p>
        </p:txBody>
      </p:sp>
      <p:sp>
        <p:nvSpPr>
          <p:cNvPr id="6" name="Google Shape;559;p61">
            <a:extLst xmlns:a="http://schemas.openxmlformats.org/drawingml/2006/main">
              <a:ext uri="{FF2B5EF4-FFF2-40B4-BE49-F238E27FC236}">
                <a16:creationId xmlns:a16="http://schemas.microsoft.com/office/drawing/2014/main" id="{B35EA25F-F28D-25C7-A5DF-16A7EADF8DBD}"/>
              </a:ext>
            </a:extLst>
          </p:cNvPr>
          <p:cNvSpPr>
            <a:spLocks xmlns:a="http://schemas.openxmlformats.org/drawingml/2006/main" noGrp="1"/>
          </p:cNvSpPr>
          <p:nvPr/>
        </p:nvSpPr>
        <p:spPr>
          <a:xfrm xmlns:a="http://schemas.openxmlformats.org/drawingml/2006/main">
            <a:off x="4318000" y="4013200"/>
            <a:ext cx="3568700" cy="19812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100">
                <a:latin typeface="Helvetica Neue"/>
                <a:ea typeface="Helvetica Neue"/>
                <a:cs typeface="Helvetica Neue"/>
              </a:rPr>
              <a:t>Проверяемый результат</a:t>
            </a:r>
            <a:endParaRPr sz="2000">
              <a:latin typeface="Helvetica Neue"/>
              <a:ea typeface="Helvetica Neue"/>
              <a:cs typeface="Helvetica Neue"/>
            </a:endParaRPr>
          </a:p>
          <a:p xmlns:a="http://schemas.openxmlformats.org/drawingml/2006/main">
            <a:pPr marL="0" indent="0">
              <a:lnSpc>
                <a:spcPct val="114000"/>
              </a:lnSpc>
              <a:spcBef>
                <a:spcPts val="0"/>
              </a:spcBef>
              <a:spcAft>
                <a:spcPts val="800"/>
              </a:spcAft>
              <a:buFont typeface="Arial"/>
              <a:buNone/>
            </a:pPr>
            <a:r>
              <a:rPr sz="2100">
                <a:latin typeface="Helvetica Neue"/>
                <a:ea typeface="Helvetica Neue"/>
                <a:cs typeface="Helvetica Neue"/>
              </a:rPr>
              <a:t>Можно проследить требование до теста и прочитать исходный отчёт выполнения.</a:t>
            </a:r>
            <a:endParaRPr sz="2000">
              <a:latin typeface="Helvetica Neue"/>
              <a:ea typeface="Helvetica Neue"/>
              <a:cs typeface="Helvetica Neue"/>
            </a:endParaRPr>
          </a:p>
        </p:txBody>
      </p:sp>
      <p:sp>
        <p:nvSpPr>
          <p:cNvPr id="7" name="Google Shape;560;p61">
            <a:extLst xmlns:a="http://schemas.openxmlformats.org/drawingml/2006/main">
              <a:ext uri="{FF2B5EF4-FFF2-40B4-BE49-F238E27FC236}">
                <a16:creationId xmlns:a16="http://schemas.microsoft.com/office/drawing/2014/main" id="{6E61CDC3-05E3-B689-0BCE-9014DDCB5EE8}"/>
              </a:ext>
            </a:extLst>
          </p:cNvPr>
          <p:cNvSpPr>
            <a:spLocks xmlns:a="http://schemas.openxmlformats.org/drawingml/2006/main" noGrp="1"/>
          </p:cNvSpPr>
          <p:nvPr/>
        </p:nvSpPr>
        <p:spPr>
          <a:xfrm xmlns:a="http://schemas.openxmlformats.org/drawingml/2006/main">
            <a:off x="8232273" y="4013200"/>
            <a:ext cx="3568700" cy="19812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100">
                <a:latin typeface="Helvetica Neue"/>
                <a:ea typeface="Helvetica Neue"/>
                <a:cs typeface="Helvetica Neue"/>
              </a:rPr>
              <a:t>Встраивание в проект</a:t>
            </a:r>
            <a:endParaRPr sz="2000">
              <a:latin typeface="Helvetica Neue"/>
              <a:ea typeface="Helvetica Neue"/>
              <a:cs typeface="Helvetica Neue"/>
            </a:endParaRPr>
          </a:p>
          <a:p xmlns:a="http://schemas.openxmlformats.org/drawingml/2006/main">
            <a:pPr marL="0" indent="0">
              <a:lnSpc>
                <a:spcPct val="114000"/>
              </a:lnSpc>
              <a:spcBef>
                <a:spcPts val="0"/>
              </a:spcBef>
              <a:spcAft>
                <a:spcPts val="800"/>
              </a:spcAft>
              <a:buFont typeface="Arial"/>
              <a:buNone/>
            </a:pPr>
            <a:r>
              <a:rPr sz="2100">
                <a:latin typeface="Helvetica Neue"/>
                <a:ea typeface="Helvetica Neue"/>
                <a:cs typeface="Helvetica Neue"/>
              </a:rPr>
              <a:t>Пакет копируется в репозиторий и использует штатные средства тестирования.</a:t>
            </a:r>
            <a:endParaRPr sz="2000">
              <a:latin typeface="Helvetica Neue"/>
              <a:ea typeface="Helvetica Neue"/>
              <a:cs typeface="Helvetica Neue"/>
            </a:endParaRPr>
          </a:p>
        </p:txBody>
      </p:sp>
      <p:sp>
        <p:nvSpPr>
          <p:cNvPr id="8" name="Google Shape;561;p61">
            <a:extLst xmlns:a="http://schemas.openxmlformats.org/drawingml/2006/main">
              <a:ext uri="{FF2B5EF4-FFF2-40B4-BE49-F238E27FC236}">
                <a16:creationId xmlns:a16="http://schemas.microsoft.com/office/drawing/2014/main" id="{2E9332F7-1AC8-A3A0-635E-D70D0C3E6A72}"/>
              </a:ext>
            </a:extLst>
          </p:cNvPr>
          <p:cNvSpPr>
            <a:spLocks xmlns:a="http://schemas.openxmlformats.org/drawingml/2006/main" noGrp="1"/>
          </p:cNvSpPr>
          <p:nvPr/>
        </p:nvSpPr>
        <p:spPr>
          <a:xfrm xmlns:a="http://schemas.openxmlformats.org/drawingml/2006/main">
            <a:off x="4279904" y="3382303"/>
            <a:ext cx="315580" cy="353873"/>
          </a:xfrm>
          <a:custGeom xmlns:a="http://schemas.openxmlformats.org/drawingml/2006/main">
            <a:rect l="l" t="t" r="r" b="b"/>
            <a:pathLst>
              <a:path w="20236" h="20115">
                <a:moveTo>
                  <a:pt x="11303" y="2594"/>
                </a:moveTo>
                <a:lnTo>
                  <a:pt x="2175" y="11983"/>
                </a:lnTo>
                <a:lnTo>
                  <a:pt x="9033" y="11983"/>
                </a:lnTo>
                <a:cubicBezTo>
                  <a:pt x="9364" y="11983"/>
                  <a:pt x="9678" y="12118"/>
                  <a:pt x="9883" y="12348"/>
                </a:cubicBezTo>
                <a:cubicBezTo>
                  <a:pt x="10089" y="12579"/>
                  <a:pt x="10165" y="12880"/>
                  <a:pt x="10089" y="13166"/>
                </a:cubicBezTo>
                <a:lnTo>
                  <a:pt x="8933" y="17522"/>
                </a:lnTo>
                <a:lnTo>
                  <a:pt x="18061" y="8133"/>
                </a:lnTo>
                <a:lnTo>
                  <a:pt x="11203" y="8133"/>
                </a:lnTo>
                <a:cubicBezTo>
                  <a:pt x="10872" y="8133"/>
                  <a:pt x="10558" y="7999"/>
                  <a:pt x="10353" y="7768"/>
                </a:cubicBezTo>
                <a:cubicBezTo>
                  <a:pt x="10147" y="7537"/>
                  <a:pt x="10071" y="7236"/>
                  <a:pt x="10147" y="6950"/>
                </a:cubicBezTo>
                <a:lnTo>
                  <a:pt x="11303" y="2594"/>
                </a:lnTo>
                <a:close/>
                <a:moveTo>
                  <a:pt x="10382" y="593"/>
                </a:moveTo>
                <a:cubicBezTo>
                  <a:pt x="11679" y="-742"/>
                  <a:pt x="14125" y="363"/>
                  <a:pt x="13670" y="2078"/>
                </a:cubicBezTo>
                <a:lnTo>
                  <a:pt x="12574" y="6208"/>
                </a:lnTo>
                <a:lnTo>
                  <a:pt x="18061" y="6208"/>
                </a:lnTo>
                <a:cubicBezTo>
                  <a:pt x="19918" y="6208"/>
                  <a:pt x="20918" y="8142"/>
                  <a:pt x="19705" y="9390"/>
                </a:cubicBezTo>
                <a:lnTo>
                  <a:pt x="9854" y="19523"/>
                </a:lnTo>
                <a:cubicBezTo>
                  <a:pt x="8557" y="20858"/>
                  <a:pt x="6111" y="19753"/>
                  <a:pt x="6566" y="18038"/>
                </a:cubicBezTo>
                <a:lnTo>
                  <a:pt x="7662" y="13908"/>
                </a:lnTo>
                <a:lnTo>
                  <a:pt x="2175" y="13908"/>
                </a:lnTo>
                <a:cubicBezTo>
                  <a:pt x="318" y="13908"/>
                  <a:pt x="-682" y="11974"/>
                  <a:pt x="531" y="10726"/>
                </a:cubicBezTo>
                <a:lnTo>
                  <a:pt x="10382" y="593"/>
                </a:lnTo>
                <a:close/>
              </a:path>
            </a:pathLst>
          </a:custGeom>
          <a:solidFill xmlns:a="http://schemas.openxmlformats.org/drawingml/2006/main">
            <a:schemeClr val="tx1"/>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Clr>
                <a:srgbClr val="FFFFFF"/>
              </a:buClr>
              <a:buSzPts val="4300"/>
              <a:buNone/>
            </a:pPr>
            <a:endParaRPr sz="4300">
              <a:solidFill>
                <a:srgbClr val="FFFFFF"/>
              </a:solidFill>
              <a:latin typeface="Helvetica Neue"/>
              <a:ea typeface="Helvetica Neue"/>
              <a:cs typeface="Helvetica Neue"/>
            </a:endParaRPr>
          </a:p>
        </p:txBody>
      </p:sp>
      <p:sp>
        <p:nvSpPr>
          <p:cNvPr id="9" name="Google Shape;562;p61">
            <a:extLst xmlns:a="http://schemas.openxmlformats.org/drawingml/2006/main">
              <a:ext uri="{FF2B5EF4-FFF2-40B4-BE49-F238E27FC236}">
                <a16:creationId xmlns:a16="http://schemas.microsoft.com/office/drawing/2014/main" id="{1F6EAF7D-166C-52A8-35F4-18CE1043DC36}"/>
              </a:ext>
            </a:extLst>
          </p:cNvPr>
          <p:cNvSpPr>
            <a:spLocks xmlns:a="http://schemas.openxmlformats.org/drawingml/2006/main" noGrp="1"/>
          </p:cNvSpPr>
          <p:nvPr/>
        </p:nvSpPr>
        <p:spPr>
          <a:xfrm xmlns:a="http://schemas.openxmlformats.org/drawingml/2006/main">
            <a:off x="401398" y="3378212"/>
            <a:ext cx="327078" cy="362074"/>
          </a:xfrm>
          <a:custGeom xmlns:a="http://schemas.openxmlformats.org/drawingml/2006/main">
            <a:rect l="l" t="t" r="r" b="b"/>
            <a:pathLst>
              <a:path w="21600" h="21333">
                <a:moveTo>
                  <a:pt x="11359" y="2130"/>
                </a:moveTo>
                <a:cubicBezTo>
                  <a:pt x="11014" y="1951"/>
                  <a:pt x="10588" y="1951"/>
                  <a:pt x="10241" y="2130"/>
                </a:cubicBezTo>
                <a:lnTo>
                  <a:pt x="3250" y="5732"/>
                </a:lnTo>
                <a:lnTo>
                  <a:pt x="10817" y="9530"/>
                </a:lnTo>
                <a:lnTo>
                  <a:pt x="18593" y="5856"/>
                </a:lnTo>
                <a:lnTo>
                  <a:pt x="11359" y="2130"/>
                </a:lnTo>
                <a:close/>
                <a:moveTo>
                  <a:pt x="19364" y="7749"/>
                </a:moveTo>
                <a:lnTo>
                  <a:pt x="11918" y="11267"/>
                </a:lnTo>
                <a:lnTo>
                  <a:pt x="11918" y="18916"/>
                </a:lnTo>
                <a:lnTo>
                  <a:pt x="18805" y="15367"/>
                </a:lnTo>
                <a:cubicBezTo>
                  <a:pt x="19152" y="15189"/>
                  <a:pt x="19364" y="14860"/>
                  <a:pt x="19364" y="14503"/>
                </a:cubicBezTo>
                <a:lnTo>
                  <a:pt x="19364" y="7749"/>
                </a:lnTo>
                <a:close/>
                <a:moveTo>
                  <a:pt x="9682" y="18916"/>
                </a:moveTo>
                <a:lnTo>
                  <a:pt x="9682" y="11250"/>
                </a:lnTo>
                <a:lnTo>
                  <a:pt x="2236" y="7513"/>
                </a:lnTo>
                <a:lnTo>
                  <a:pt x="2236" y="14503"/>
                </a:lnTo>
                <a:cubicBezTo>
                  <a:pt x="2236" y="14860"/>
                  <a:pt x="2448" y="15189"/>
                  <a:pt x="2795" y="15367"/>
                </a:cubicBezTo>
                <a:lnTo>
                  <a:pt x="9682" y="18916"/>
                </a:lnTo>
                <a:close/>
                <a:moveTo>
                  <a:pt x="9123" y="401"/>
                </a:moveTo>
                <a:cubicBezTo>
                  <a:pt x="10160" y="-133"/>
                  <a:pt x="11440" y="-133"/>
                  <a:pt x="12477" y="401"/>
                </a:cubicBezTo>
                <a:lnTo>
                  <a:pt x="19923" y="4238"/>
                </a:lnTo>
                <a:cubicBezTo>
                  <a:pt x="20962" y="4773"/>
                  <a:pt x="21600" y="5761"/>
                  <a:pt x="21600" y="6830"/>
                </a:cubicBezTo>
                <a:lnTo>
                  <a:pt x="21600" y="14503"/>
                </a:lnTo>
                <a:cubicBezTo>
                  <a:pt x="21600" y="15572"/>
                  <a:pt x="20962" y="16561"/>
                  <a:pt x="19923" y="17096"/>
                </a:cubicBezTo>
                <a:lnTo>
                  <a:pt x="12477" y="20932"/>
                </a:lnTo>
                <a:cubicBezTo>
                  <a:pt x="11440" y="21467"/>
                  <a:pt x="10160" y="21467"/>
                  <a:pt x="9123" y="20932"/>
                </a:cubicBezTo>
                <a:lnTo>
                  <a:pt x="1677" y="17096"/>
                </a:lnTo>
                <a:cubicBezTo>
                  <a:pt x="640" y="16561"/>
                  <a:pt x="0" y="15572"/>
                  <a:pt x="0" y="14503"/>
                </a:cubicBezTo>
                <a:lnTo>
                  <a:pt x="0" y="6830"/>
                </a:lnTo>
                <a:cubicBezTo>
                  <a:pt x="0" y="5761"/>
                  <a:pt x="640" y="4773"/>
                  <a:pt x="1677" y="4238"/>
                </a:cubicBezTo>
                <a:lnTo>
                  <a:pt x="9123" y="401"/>
                </a:lnTo>
                <a:close/>
              </a:path>
            </a:pathLst>
          </a:custGeom>
          <a:solidFill xmlns:a="http://schemas.openxmlformats.org/drawingml/2006/main">
            <a:schemeClr val="tx1"/>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Clr>
                <a:srgbClr val="FFFFFF"/>
              </a:buClr>
              <a:buSzPts val="4300"/>
              <a:buNone/>
            </a:pPr>
            <a:endParaRPr sz="4300">
              <a:solidFill>
                <a:srgbClr val="FFFFFF"/>
              </a:solidFill>
              <a:latin typeface="Helvetica Neue"/>
              <a:ea typeface="Helvetica Neue"/>
              <a:cs typeface="Helvetica Neue"/>
            </a:endParaRPr>
          </a:p>
        </p:txBody>
      </p:sp>
      <p:sp>
        <p:nvSpPr>
          <p:cNvPr id="10" name="Google Shape;563;p61">
            <a:extLst xmlns:a="http://schemas.openxmlformats.org/drawingml/2006/main">
              <a:ext uri="{FF2B5EF4-FFF2-40B4-BE49-F238E27FC236}">
                <a16:creationId xmlns:a16="http://schemas.microsoft.com/office/drawing/2014/main" id="{56E3A8EC-7B67-B778-5CC6-BC0282925006}"/>
              </a:ext>
            </a:extLst>
          </p:cNvPr>
          <p:cNvSpPr>
            <a:spLocks xmlns:a="http://schemas.openxmlformats.org/drawingml/2006/main" noGrp="1"/>
          </p:cNvSpPr>
          <p:nvPr/>
        </p:nvSpPr>
        <p:spPr>
          <a:xfrm xmlns:a="http://schemas.openxmlformats.org/drawingml/2006/main">
            <a:off x="8231597" y="3406849"/>
            <a:ext cx="338580" cy="270918"/>
          </a:xfrm>
          <a:custGeom xmlns:a="http://schemas.openxmlformats.org/drawingml/2006/main">
            <a:rect l="l" t="t" r="r" b="b"/>
            <a:pathLst>
              <a:path w="21600" h="21600">
                <a:moveTo>
                  <a:pt x="6220" y="0"/>
                </a:moveTo>
                <a:lnTo>
                  <a:pt x="15380" y="0"/>
                </a:lnTo>
                <a:cubicBezTo>
                  <a:pt x="16250" y="0"/>
                  <a:pt x="16968" y="0"/>
                  <a:pt x="17552" y="59"/>
                </a:cubicBezTo>
                <a:cubicBezTo>
                  <a:pt x="18159" y="122"/>
                  <a:pt x="18717" y="255"/>
                  <a:pt x="19241" y="589"/>
                </a:cubicBezTo>
                <a:cubicBezTo>
                  <a:pt x="20055" y="1106"/>
                  <a:pt x="20715" y="1932"/>
                  <a:pt x="21129" y="2948"/>
                </a:cubicBezTo>
                <a:cubicBezTo>
                  <a:pt x="21396" y="3603"/>
                  <a:pt x="21503" y="4301"/>
                  <a:pt x="21552" y="5060"/>
                </a:cubicBezTo>
                <a:cubicBezTo>
                  <a:pt x="21600" y="5790"/>
                  <a:pt x="21600" y="6688"/>
                  <a:pt x="21600" y="7775"/>
                </a:cubicBezTo>
                <a:lnTo>
                  <a:pt x="21600" y="13825"/>
                </a:lnTo>
                <a:cubicBezTo>
                  <a:pt x="21600" y="14912"/>
                  <a:pt x="21600" y="15810"/>
                  <a:pt x="21552" y="16540"/>
                </a:cubicBezTo>
                <a:cubicBezTo>
                  <a:pt x="21503" y="17299"/>
                  <a:pt x="21396" y="17997"/>
                  <a:pt x="21129" y="18652"/>
                </a:cubicBezTo>
                <a:cubicBezTo>
                  <a:pt x="20715" y="19668"/>
                  <a:pt x="20055" y="20494"/>
                  <a:pt x="19241" y="21011"/>
                </a:cubicBezTo>
                <a:cubicBezTo>
                  <a:pt x="18717" y="21345"/>
                  <a:pt x="18159" y="21478"/>
                  <a:pt x="17552" y="21541"/>
                </a:cubicBezTo>
                <a:cubicBezTo>
                  <a:pt x="16968" y="21600"/>
                  <a:pt x="16250" y="21600"/>
                  <a:pt x="15380" y="21600"/>
                </a:cubicBezTo>
                <a:lnTo>
                  <a:pt x="6220" y="21600"/>
                </a:lnTo>
                <a:cubicBezTo>
                  <a:pt x="5350" y="21600"/>
                  <a:pt x="4632" y="21600"/>
                  <a:pt x="4048" y="21541"/>
                </a:cubicBezTo>
                <a:cubicBezTo>
                  <a:pt x="3441" y="21478"/>
                  <a:pt x="2883" y="21345"/>
                  <a:pt x="2359" y="21011"/>
                </a:cubicBezTo>
                <a:cubicBezTo>
                  <a:pt x="1545" y="20494"/>
                  <a:pt x="885" y="19668"/>
                  <a:pt x="471" y="18652"/>
                </a:cubicBezTo>
                <a:cubicBezTo>
                  <a:pt x="204" y="17997"/>
                  <a:pt x="97" y="17299"/>
                  <a:pt x="48" y="16540"/>
                </a:cubicBezTo>
                <a:cubicBezTo>
                  <a:pt x="0" y="15810"/>
                  <a:pt x="0" y="14912"/>
                  <a:pt x="0" y="13825"/>
                </a:cubicBezTo>
                <a:lnTo>
                  <a:pt x="0" y="7775"/>
                </a:lnTo>
                <a:cubicBezTo>
                  <a:pt x="0" y="6688"/>
                  <a:pt x="0" y="5790"/>
                  <a:pt x="48" y="5060"/>
                </a:cubicBezTo>
                <a:cubicBezTo>
                  <a:pt x="97" y="4301"/>
                  <a:pt x="204" y="3603"/>
                  <a:pt x="471" y="2948"/>
                </a:cubicBezTo>
                <a:cubicBezTo>
                  <a:pt x="885" y="1932"/>
                  <a:pt x="1545" y="1106"/>
                  <a:pt x="2359" y="589"/>
                </a:cubicBezTo>
                <a:cubicBezTo>
                  <a:pt x="2883" y="255"/>
                  <a:pt x="3441" y="122"/>
                  <a:pt x="4048" y="59"/>
                </a:cubicBezTo>
                <a:cubicBezTo>
                  <a:pt x="4632" y="0"/>
                  <a:pt x="5350" y="0"/>
                  <a:pt x="6220" y="0"/>
                </a:cubicBezTo>
                <a:close/>
                <a:moveTo>
                  <a:pt x="2160" y="9450"/>
                </a:moveTo>
                <a:lnTo>
                  <a:pt x="2160" y="13770"/>
                </a:lnTo>
                <a:cubicBezTo>
                  <a:pt x="2160" y="14927"/>
                  <a:pt x="2161" y="15713"/>
                  <a:pt x="2201" y="16320"/>
                </a:cubicBezTo>
                <a:cubicBezTo>
                  <a:pt x="2239" y="16911"/>
                  <a:pt x="2309" y="17215"/>
                  <a:pt x="2395" y="17426"/>
                </a:cubicBezTo>
                <a:cubicBezTo>
                  <a:pt x="2603" y="17933"/>
                  <a:pt x="2933" y="18347"/>
                  <a:pt x="3339" y="18606"/>
                </a:cubicBezTo>
                <a:cubicBezTo>
                  <a:pt x="3508" y="18714"/>
                  <a:pt x="3751" y="18801"/>
                  <a:pt x="4224" y="18849"/>
                </a:cubicBezTo>
                <a:cubicBezTo>
                  <a:pt x="4710" y="18899"/>
                  <a:pt x="5338" y="18900"/>
                  <a:pt x="6264" y="18900"/>
                </a:cubicBezTo>
                <a:lnTo>
                  <a:pt x="15336" y="18900"/>
                </a:lnTo>
                <a:cubicBezTo>
                  <a:pt x="16262" y="18900"/>
                  <a:pt x="16890" y="18899"/>
                  <a:pt x="17376" y="18849"/>
                </a:cubicBezTo>
                <a:cubicBezTo>
                  <a:pt x="17849" y="18801"/>
                  <a:pt x="18092" y="18714"/>
                  <a:pt x="18261" y="18606"/>
                </a:cubicBezTo>
                <a:cubicBezTo>
                  <a:pt x="18667" y="18347"/>
                  <a:pt x="18997" y="17933"/>
                  <a:pt x="19205" y="17426"/>
                </a:cubicBezTo>
                <a:cubicBezTo>
                  <a:pt x="19291" y="17215"/>
                  <a:pt x="19361" y="16911"/>
                  <a:pt x="19399" y="16320"/>
                </a:cubicBezTo>
                <a:cubicBezTo>
                  <a:pt x="19439" y="15713"/>
                  <a:pt x="19440" y="14927"/>
                  <a:pt x="19440" y="13770"/>
                </a:cubicBezTo>
                <a:lnTo>
                  <a:pt x="19440" y="9450"/>
                </a:lnTo>
                <a:lnTo>
                  <a:pt x="2160" y="9450"/>
                </a:lnTo>
                <a:close/>
                <a:moveTo>
                  <a:pt x="19438" y="6750"/>
                </a:moveTo>
                <a:cubicBezTo>
                  <a:pt x="19435" y="6148"/>
                  <a:pt x="19425" y="5677"/>
                  <a:pt x="19399" y="5280"/>
                </a:cubicBezTo>
                <a:cubicBezTo>
                  <a:pt x="19361" y="4689"/>
                  <a:pt x="19291" y="4385"/>
                  <a:pt x="19205" y="4174"/>
                </a:cubicBezTo>
                <a:cubicBezTo>
                  <a:pt x="18997" y="3667"/>
                  <a:pt x="18667" y="3254"/>
                  <a:pt x="18261" y="2994"/>
                </a:cubicBezTo>
                <a:cubicBezTo>
                  <a:pt x="18092" y="2886"/>
                  <a:pt x="17849" y="2799"/>
                  <a:pt x="17376" y="2751"/>
                </a:cubicBezTo>
                <a:cubicBezTo>
                  <a:pt x="16890" y="2701"/>
                  <a:pt x="16262" y="2700"/>
                  <a:pt x="15336" y="2700"/>
                </a:cubicBezTo>
                <a:lnTo>
                  <a:pt x="6264" y="2700"/>
                </a:lnTo>
                <a:cubicBezTo>
                  <a:pt x="5338" y="2700"/>
                  <a:pt x="4710" y="2701"/>
                  <a:pt x="4224" y="2751"/>
                </a:cubicBezTo>
                <a:cubicBezTo>
                  <a:pt x="3751" y="2799"/>
                  <a:pt x="3508" y="2886"/>
                  <a:pt x="3339" y="2994"/>
                </a:cubicBezTo>
                <a:cubicBezTo>
                  <a:pt x="2933" y="3254"/>
                  <a:pt x="2603" y="3667"/>
                  <a:pt x="2395" y="4174"/>
                </a:cubicBezTo>
                <a:cubicBezTo>
                  <a:pt x="2309" y="4385"/>
                  <a:pt x="2239" y="4689"/>
                  <a:pt x="2201" y="5280"/>
                </a:cubicBezTo>
                <a:cubicBezTo>
                  <a:pt x="2175" y="5677"/>
                  <a:pt x="2165" y="6148"/>
                  <a:pt x="2162" y="6750"/>
                </a:cubicBezTo>
                <a:lnTo>
                  <a:pt x="19438" y="6750"/>
                </a:lnTo>
                <a:close/>
                <a:moveTo>
                  <a:pt x="12960" y="14850"/>
                </a:moveTo>
                <a:cubicBezTo>
                  <a:pt x="12960" y="14105"/>
                  <a:pt x="13444" y="13500"/>
                  <a:pt x="14040" y="13500"/>
                </a:cubicBezTo>
                <a:lnTo>
                  <a:pt x="16200" y="13500"/>
                </a:lnTo>
                <a:cubicBezTo>
                  <a:pt x="16796" y="13500"/>
                  <a:pt x="17280" y="14105"/>
                  <a:pt x="17280" y="14850"/>
                </a:cubicBezTo>
                <a:cubicBezTo>
                  <a:pt x="17280" y="15595"/>
                  <a:pt x="16796" y="16200"/>
                  <a:pt x="16200" y="16200"/>
                </a:cubicBezTo>
                <a:lnTo>
                  <a:pt x="14040" y="16200"/>
                </a:lnTo>
                <a:cubicBezTo>
                  <a:pt x="13444" y="16200"/>
                  <a:pt x="12960" y="15595"/>
                  <a:pt x="12960" y="14850"/>
                </a:cubicBezTo>
                <a:close/>
              </a:path>
            </a:pathLst>
          </a:custGeom>
          <a:solidFill xmlns:a="http://schemas.openxmlformats.org/drawingml/2006/main">
            <a:schemeClr val="tx1"/>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Clr>
                <a:srgbClr val="FFFFFF"/>
              </a:buClr>
              <a:buSzPts val="4300"/>
              <a:buNone/>
            </a:pPr>
            <a:endParaRPr sz="4300">
              <a:solidFill>
                <a:srgbClr val="FFFFFF"/>
              </a:solidFill>
              <a:latin typeface="Helvetica Neue"/>
              <a:ea typeface="Helvetica Neue"/>
              <a:cs typeface="Helvetica Neue"/>
            </a:endParaRPr>
          </a:p>
        </p:txBody>
      </p:sp>
    </p:spTree>
    <p:extLst>
      <p:ext uri="{BB962C8B-B14F-4D97-AF65-F5344CB8AC3E}">
        <p14:creationId xmlns:p14="http://schemas.microsoft.com/office/powerpoint/2010/main" val="105343969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ADE525C3-6A65-3281-3715-AE2CF21E370C}"/>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4</a:t>
            </a:fld>
            <a:endParaRPr/>
          </a:p>
        </p:txBody>
      </p:sp>
      <p:sp>
        <p:nvSpPr>
          <p:cNvPr id="533" name="Google Shape;533;p58">
            <a:extLst xmlns:a="http://schemas.openxmlformats.org/drawingml/2006/main">
              <a:ext uri="{FF2B5EF4-FFF2-40B4-BE49-F238E27FC236}">
                <a16:creationId xmlns:a16="http://schemas.microsoft.com/office/drawing/2014/main" id="{509200BE-15E5-FE37-6AFE-A51B10E1A9BC}"/>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sz="3200"/>
              <a:t>Шесть скиллов, явные обязанности</a:t>
            </a: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3365500"/>
            <a:ext cx="3568700" cy="26289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sz="2100">
                <a:latin typeface="Helvetica Neue"/>
                <a:ea typeface="Helvetica Neue"/>
                <a:cs typeface="Helvetica Neue"/>
              </a:rPr>
              <a:t>Организация и контекст</a:t>
            </a:r>
            <a:endParaRPr sz="1800">
              <a:latin typeface="Helvetica Neue"/>
              <a:ea typeface="Helvetica Neue"/>
              <a:cs typeface="Helvetica Neue"/>
            </a:endParaRPr>
          </a:p>
          <a:p xmlns:a="http://schemas.openxmlformats.org/drawingml/2006/main">
            <a:pPr marL="0" indent="0">
              <a:lnSpc>
                <a:spcPct val="114000"/>
              </a:lnSpc>
              <a:spcBef>
                <a:spcPts val="0"/>
              </a:spcBef>
              <a:spcAft>
                <a:spcPts val="800"/>
              </a:spcAft>
              <a:buNone/>
            </a:pPr>
            <a:r>
              <a:rPr sz="2100">
                <a:latin typeface="Helvetica Neue"/>
                <a:ea typeface="Helvetica Neue"/>
                <a:cs typeface="Helvetica Neue"/>
              </a:rPr>
              <a:t>Orchestrate ведёт процесс.</a:t>
            </a:r>
            <a:endParaRPr sz="1800">
              <a:latin typeface="Helvetica Neue"/>
              <a:ea typeface="Helvetica Neue"/>
              <a:cs typeface="Helvetica Neue"/>
            </a:endParaRPr>
          </a:p>
          <a:p xmlns:a="http://schemas.openxmlformats.org/drawingml/2006/main">
            <a:pPr marL="0" indent="0">
              <a:lnSpc>
                <a:spcPct val="114000"/>
              </a:lnSpc>
              <a:spcBef>
                <a:spcPts val="0"/>
              </a:spcBef>
              <a:spcAft>
                <a:spcPts val="800"/>
              </a:spcAft>
              <a:buNone/>
            </a:pPr>
            <a:r>
              <a:rPr sz="2100">
                <a:latin typeface="Helvetica Neue"/>
                <a:ea typeface="Helvetica Neue"/>
                <a:cs typeface="Helvetica Neue"/>
              </a:rPr>
              <a:t>Context Marker выделяет требования и границы задачи.</a:t>
            </a:r>
            <a:endParaRPr sz="1800">
              <a:latin typeface="Helvetica Neue"/>
              <a:ea typeface="Helvetica Neue"/>
              <a:cs typeface="Helvetica Neue"/>
            </a:endParaRP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3365500"/>
            <a:ext cx="3568700" cy="2628900"/>
          </a:xfrm>
        </p:spPr>
        <p:txBody>
          <a:bodyPr xmlns:a="http://schemas.openxmlformats.org/drawingml/2006/main">
            <a:norm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pPr>
            <a:r>
              <a:rPr sz="2100" b="0" i="0" u="none" cap="none" spc="0">
                <a:ln>
                  <a:noFill/>
                </a:ln>
                <a:latin typeface="Helvetica Neue"/>
                <a:ea typeface="Helvetica Neue"/>
                <a:cs typeface="Helvetica Neue"/>
              </a:rPr>
              <a:t>Автоматизация и ревью</a:t>
            </a:r>
          </a:p>
          <a:p xmlns:a="http://schemas.openxmlformats.org/drawingml/2006/main">
            <a:pPr marL="0" marR="0" lvl="0" indent="0" algn="l" defTabSz="914400">
              <a:lnSpc>
                <a:spcPct val="114000"/>
              </a:lnSpc>
              <a:spcBef>
                <a:spcPts val="0"/>
              </a:spcBef>
              <a:spcAft>
                <a:spcPts val="800"/>
              </a:spcAft>
              <a:buClrTx/>
              <a:buSzTx/>
              <a:buFont typeface="Arial"/>
              <a:buNone/>
            </a:pPr>
            <a:r>
              <a:rPr sz="2100" b="0" i="0" u="none" cap="none" spc="0">
                <a:ln>
                  <a:noFill/>
                </a:ln>
                <a:latin typeface="Helvetica Neue"/>
                <a:ea typeface="Helvetica Neue"/>
                <a:cs typeface="Helvetica Neue"/>
              </a:rPr>
              <a:t>TC to Autotest пишет тесты.</a:t>
            </a:r>
          </a:p>
          <a:p xmlns:a="http://schemas.openxmlformats.org/drawingml/2006/main">
            <a:pPr marL="0" marR="0" lvl="0" indent="0" algn="l" defTabSz="914400">
              <a:lnSpc>
                <a:spcPct val="114000"/>
              </a:lnSpc>
              <a:spcBef>
                <a:spcPts val="0"/>
              </a:spcBef>
              <a:spcAft>
                <a:spcPts val="800"/>
              </a:spcAft>
              <a:buClrTx/>
              <a:buSzTx/>
              <a:buFont typeface="Arial"/>
              <a:buNone/>
            </a:pPr>
            <a:r>
              <a:rPr sz="2100" b="0" i="0" u="none" cap="none" spc="0">
                <a:ln>
                  <a:noFill/>
                </a:ln>
                <a:latin typeface="Helvetica Neue"/>
                <a:ea typeface="Helvetica Neue"/>
                <a:cs typeface="Helvetica Neue"/>
              </a:rPr>
              <a:t>Autotest Reviewer проверяет код до его запуска.</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3365500"/>
            <a:ext cx="3568700" cy="2628900"/>
          </a:xfrm>
        </p:spPr>
        <p:txBody>
          <a:bodyPr xmlns:a="http://schemas.openxmlformats.org/drawingml/2006/main">
            <a:norm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pPr>
            <a:r>
              <a:rPr sz="2100" b="0" i="0" u="none" cap="none" spc="0">
                <a:ln>
                  <a:noFill/>
                </a:ln>
                <a:latin typeface="Helvetica Neue"/>
                <a:ea typeface="Helvetica Neue"/>
                <a:cs typeface="Helvetica Neue"/>
              </a:rPr>
              <a:t>Сценарии и ревью</a:t>
            </a:r>
          </a:p>
          <a:p xmlns:a="http://schemas.openxmlformats.org/drawingml/2006/main">
            <a:pPr marL="0" marR="0" lvl="0" indent="0" algn="l" defTabSz="914400">
              <a:lnSpc>
                <a:spcPct val="114000"/>
              </a:lnSpc>
              <a:spcBef>
                <a:spcPts val="0"/>
              </a:spcBef>
              <a:spcAft>
                <a:spcPts val="800"/>
              </a:spcAft>
              <a:buClrTx/>
              <a:buSzTx/>
              <a:buFont typeface="Arial"/>
              <a:buNone/>
            </a:pPr>
            <a:r>
              <a:rPr sz="2100" b="0" i="0" u="none" cap="none" spc="0">
                <a:ln>
                  <a:noFill/>
                </a:ln>
                <a:latin typeface="Helvetica Neue"/>
                <a:ea typeface="Helvetica Neue"/>
                <a:cs typeface="Helvetica Neue"/>
              </a:rPr>
              <a:t>TC Generator пишет кейсы.</a:t>
            </a:r>
          </a:p>
          <a:p xmlns:a="http://schemas.openxmlformats.org/drawingml/2006/main">
            <a:pPr marL="0" indent="0">
              <a:buNone/>
            </a:pPr>
            <a:r>
              <a:rPr sz="2100"/>
              <a:t>TC Reviewer независимо проверяет их до автоматизации.</a:t>
            </a:r>
            <a:endParaRPr/>
          </a:p>
        </p:txBody>
      </p:sp>
    </p:spTree>
    <p:extLst>
      <p:ext uri="{BB962C8B-B14F-4D97-AF65-F5344CB8AC3E}">
        <p14:creationId xmlns:p14="http://schemas.microsoft.com/office/powerpoint/2010/main" val="139345699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1" name="Footer Placeholder 10">
            <a:extLst xmlns:a="http://schemas.openxmlformats.org/drawingml/2006/main">
              <a:ext uri="{FF2B5EF4-FFF2-40B4-BE49-F238E27FC236}">
                <a16:creationId xmlns:a16="http://schemas.microsoft.com/office/drawing/2014/main" id="{C4B207BF-6BAB-0D91-F12C-1E6FFBCC420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AA5CCC43-8737-3A41-CAE5-94B8C1D29B58}"/>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5</a:t>
            </a:fld>
            <a:endParaRPr/>
          </a:p>
        </p:txBody>
      </p:sp>
      <p:sp>
        <p:nvSpPr>
          <p:cNvPr id="533" name="Google Shape;533;p58">
            <a:extLst xmlns:a="http://schemas.openxmlformats.org/drawingml/2006/main">
              <a:ext uri="{FF2B5EF4-FFF2-40B4-BE49-F238E27FC236}">
                <a16:creationId xmlns:a16="http://schemas.microsoft.com/office/drawing/2014/main" id="{8B77B614-E3C4-8964-0877-92800631D48F}"/>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sz="3200"/>
              <a:t>Структура: инструкции, правила, исполнение</a:t>
            </a:r>
          </a:p>
        </p:txBody>
      </p:sp>
      <p:sp>
        <p:nvSpPr>
          <p:cNvPr id="7" name="Rounded Rectangle 6">
            <a:extLst xmlns:a="http://schemas.openxmlformats.org/drawingml/2006/main">
              <a:ext uri="{FF2B5EF4-FFF2-40B4-BE49-F238E27FC236}">
                <a16:creationId xmlns:a16="http://schemas.microsoft.com/office/drawing/2014/main" id="{24774D92-572F-796B-CFA0-75F5BDE34DE7}"/>
              </a:ext>
            </a:extLst>
          </p:cNvPr>
          <p:cNvSpPr>
            <a:spLocks xmlns:a="http://schemas.openxmlformats.org/drawingml/2006/main" noGrp="1"/>
          </p:cNvSpPr>
          <p:nvPr/>
        </p:nvSpPr>
        <p:spPr>
          <a:xfrm xmlns:a="http://schemas.openxmlformats.org/drawingml/2006/main">
            <a:off x="6264412" y="2369856"/>
            <a:ext cx="5533887" cy="16383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Content Placeholder 10">
            <a:extLst xmlns:a="http://schemas.openxmlformats.org/drawingml/2006/main">
              <a:ext uri="{FF2B5EF4-FFF2-40B4-BE49-F238E27FC236}">
                <a16:creationId xmlns:a16="http://schemas.microsoft.com/office/drawing/2014/main" id="{C0439ECA-9193-112F-E7E6-326447CEF7EB}"/>
              </a:ext>
            </a:extLst>
          </p:cNvPr>
          <p:cNvSpPr>
            <a:spLocks xmlns:a="http://schemas.openxmlformats.org/drawingml/2006/main" noGrp="1"/>
          </p:cNvSpPr>
          <p:nvPr/>
        </p:nvSpPr>
        <p:spPr>
          <a:xfrm xmlns:a="http://schemas.openxmlformats.org/drawingml/2006/main">
            <a:off x="6561647" y="2664788"/>
            <a:ext cx="4986886" cy="1048436"/>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2100">
                <a:latin typeface="Helvetica Neue"/>
                <a:ea typeface="Helvetica Neue"/>
                <a:cs typeface="Helvetica Neue"/>
              </a:rPr>
              <a:t>contracts/ + schemas/</a:t>
            </a:r>
          </a:p>
          <a:p xmlns:a="http://schemas.openxmlformats.org/drawingml/2006/main">
            <a:pPr marL="0" indent="0">
              <a:lnSpc>
                <a:spcPct val="100000"/>
              </a:lnSpc>
              <a:spcBef>
                <a:spcPts val="1300"/>
              </a:spcBef>
              <a:spcAft>
                <a:spcPts val="1300"/>
              </a:spcAft>
              <a:buFontTx/>
              <a:buNone/>
            </a:pPr>
            <a:r>
              <a:rPr sz="2100">
                <a:latin typeface="Helvetica Neue"/>
                <a:ea typeface="Helvetica Neue"/>
                <a:cs typeface="Helvetica Neue"/>
              </a:rPr>
              <a:t>Правила переходов и форматы артефактов.</a:t>
            </a:r>
          </a:p>
        </p:txBody>
      </p:sp>
      <p:sp>
        <p:nvSpPr>
          <p:cNvPr id="9" name="Rounded Rectangle 8">
            <a:extLst xmlns:a="http://schemas.openxmlformats.org/drawingml/2006/main">
              <a:ext uri="{FF2B5EF4-FFF2-40B4-BE49-F238E27FC236}">
                <a16:creationId xmlns:a16="http://schemas.microsoft.com/office/drawing/2014/main" id="{BED27E76-B721-E464-2478-718E91A649B4}"/>
              </a:ext>
            </a:extLst>
          </p:cNvPr>
          <p:cNvSpPr>
            <a:spLocks xmlns:a="http://schemas.openxmlformats.org/drawingml/2006/main" noGrp="1"/>
          </p:cNvSpPr>
          <p:nvPr/>
        </p:nvSpPr>
        <p:spPr>
          <a:xfrm xmlns:a="http://schemas.openxmlformats.org/drawingml/2006/main">
            <a:off x="409043" y="2369856"/>
            <a:ext cx="5533887" cy="16383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Content Placeholder 10">
            <a:extLst xmlns:a="http://schemas.openxmlformats.org/drawingml/2006/main">
              <a:ext uri="{FF2B5EF4-FFF2-40B4-BE49-F238E27FC236}">
                <a16:creationId xmlns:a16="http://schemas.microsoft.com/office/drawing/2014/main" id="{40DA34A0-E630-37E8-0332-0E57245DCF0D}"/>
              </a:ext>
            </a:extLst>
          </p:cNvPr>
          <p:cNvSpPr>
            <a:spLocks xmlns:a="http://schemas.openxmlformats.org/drawingml/2006/main" noGrp="1"/>
          </p:cNvSpPr>
          <p:nvPr/>
        </p:nvSpPr>
        <p:spPr>
          <a:xfrm xmlns:a="http://schemas.openxmlformats.org/drawingml/2006/main">
            <a:off x="706278" y="2664788"/>
            <a:ext cx="4986886" cy="1048436"/>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l" defTabSz="914400">
              <a:lnSpc>
                <a:spcPct val="110000"/>
              </a:lnSpc>
              <a:spcBef>
                <a:spcPts val="0"/>
              </a:spcBef>
              <a:spcAft>
                <a:spcPts val="0"/>
              </a:spcAft>
              <a:buClrTx/>
              <a:buSzTx/>
              <a:buFontTx/>
              <a:buNone/>
            </a:pPr>
            <a:r>
              <a:rPr sz="2100" b="0" i="0" u="none" cap="none" spc="0">
                <a:ln>
                  <a:noFill/>
                </a:ln>
                <a:latin typeface="Helvetica Neue"/>
                <a:ea typeface="Helvetica Neue"/>
                <a:cs typeface="Helvetica Neue"/>
              </a:rPr>
              <a:t>skills/</a:t>
            </a:r>
          </a:p>
          <a:p xmlns:a="http://schemas.openxmlformats.org/drawingml/2006/main">
            <a:pPr marL="0" marR="0" lvl="0" indent="0" algn="l" defTabSz="914400">
              <a:lnSpc>
                <a:spcPct val="100000"/>
              </a:lnSpc>
              <a:spcBef>
                <a:spcPts val="1300"/>
              </a:spcBef>
              <a:spcAft>
                <a:spcPts val="1300"/>
              </a:spcAft>
              <a:buClrTx/>
              <a:buSzTx/>
              <a:buFontTx/>
              <a:buNone/>
            </a:pPr>
            <a:r>
              <a:rPr sz="2100" b="0" i="0" u="none" cap="none" spc="0">
                <a:ln>
                  <a:noFill/>
                </a:ln>
                <a:latin typeface="Helvetica Neue"/>
                <a:ea typeface="Helvetica Neue"/>
                <a:cs typeface="Helvetica Neue"/>
              </a:rPr>
              <a:t>Шесть ролей и инструкции для модели.</a:t>
            </a:r>
          </a:p>
        </p:txBody>
      </p:sp>
      <p:sp>
        <p:nvSpPr>
          <p:cNvPr id="2" name="Rounded Rectangle 1">
            <a:extLst xmlns:a="http://schemas.openxmlformats.org/drawingml/2006/main">
              <a:ext uri="{FF2B5EF4-FFF2-40B4-BE49-F238E27FC236}">
                <a16:creationId xmlns:a16="http://schemas.microsoft.com/office/drawing/2014/main" id="{F421FB3D-82DC-94B6-ADD3-99BB3C8E58D0}"/>
              </a:ext>
            </a:extLst>
          </p:cNvPr>
          <p:cNvSpPr>
            <a:spLocks xmlns:a="http://schemas.openxmlformats.org/drawingml/2006/main" noGrp="1"/>
          </p:cNvSpPr>
          <p:nvPr/>
        </p:nvSpPr>
        <p:spPr>
          <a:xfrm xmlns:a="http://schemas.openxmlformats.org/drawingml/2006/main">
            <a:off x="6264412" y="4370106"/>
            <a:ext cx="5533887" cy="16383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Content Placeholder 10">
            <a:extLst xmlns:a="http://schemas.openxmlformats.org/drawingml/2006/main">
              <a:ext uri="{FF2B5EF4-FFF2-40B4-BE49-F238E27FC236}">
                <a16:creationId xmlns:a16="http://schemas.microsoft.com/office/drawing/2014/main" id="{9122C651-AF0B-D7E1-E9EF-3F4BC1C587A5}"/>
              </a:ext>
            </a:extLst>
          </p:cNvPr>
          <p:cNvSpPr>
            <a:spLocks xmlns:a="http://schemas.openxmlformats.org/drawingml/2006/main" noGrp="1"/>
          </p:cNvSpPr>
          <p:nvPr/>
        </p:nvSpPr>
        <p:spPr>
          <a:xfrm xmlns:a="http://schemas.openxmlformats.org/drawingml/2006/main">
            <a:off x="6561647" y="4665038"/>
            <a:ext cx="4986886" cy="1048436"/>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2100">
                <a:latin typeface="Helvetica Neue"/>
                <a:ea typeface="Helvetica Neue"/>
                <a:cs typeface="Helvetica Neue"/>
              </a:rPr>
              <a:t>tests/ + evals/ + release/</a:t>
            </a:r>
          </a:p>
          <a:p xmlns:a="http://schemas.openxmlformats.org/drawingml/2006/main">
            <a:pPr marL="0" indent="0">
              <a:lnSpc>
                <a:spcPct val="100000"/>
              </a:lnSpc>
              <a:spcBef>
                <a:spcPts val="1300"/>
              </a:spcBef>
              <a:spcAft>
                <a:spcPts val="1300"/>
              </a:spcAft>
              <a:buFontTx/>
              <a:buNone/>
            </a:pPr>
            <a:r>
              <a:rPr sz="2100">
                <a:latin typeface="Helvetica Neue"/>
                <a:ea typeface="Helvetica Neue"/>
                <a:cs typeface="Helvetica Neue"/>
              </a:rPr>
              <a:t>Тесты пакета и статус квалификации.</a:t>
            </a:r>
          </a:p>
        </p:txBody>
      </p:sp>
      <p:sp>
        <p:nvSpPr>
          <p:cNvPr id="4" name="Rounded Rectangle 3">
            <a:extLst xmlns:a="http://schemas.openxmlformats.org/drawingml/2006/main">
              <a:ext uri="{FF2B5EF4-FFF2-40B4-BE49-F238E27FC236}">
                <a16:creationId xmlns:a16="http://schemas.microsoft.com/office/drawing/2014/main" id="{EDA590ED-3B5F-06BC-B0E9-C6DC4E8BBF0C}"/>
              </a:ext>
            </a:extLst>
          </p:cNvPr>
          <p:cNvSpPr>
            <a:spLocks xmlns:a="http://schemas.openxmlformats.org/drawingml/2006/main" noGrp="1"/>
          </p:cNvSpPr>
          <p:nvPr/>
        </p:nvSpPr>
        <p:spPr>
          <a:xfrm xmlns:a="http://schemas.openxmlformats.org/drawingml/2006/main">
            <a:off x="409043" y="4370106"/>
            <a:ext cx="5533887" cy="16383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Content Placeholder 10">
            <a:extLst xmlns:a="http://schemas.openxmlformats.org/drawingml/2006/main">
              <a:ext uri="{FF2B5EF4-FFF2-40B4-BE49-F238E27FC236}">
                <a16:creationId xmlns:a16="http://schemas.microsoft.com/office/drawing/2014/main" id="{EB1BBBB3-DA5C-C3DF-7DD6-33AB7A85340B}"/>
              </a:ext>
            </a:extLst>
          </p:cNvPr>
          <p:cNvSpPr>
            <a:spLocks xmlns:a="http://schemas.openxmlformats.org/drawingml/2006/main" noGrp="1"/>
          </p:cNvSpPr>
          <p:nvPr/>
        </p:nvSpPr>
        <p:spPr>
          <a:xfrm xmlns:a="http://schemas.openxmlformats.org/drawingml/2006/main">
            <a:off x="706278" y="4665038"/>
            <a:ext cx="4986886" cy="1048436"/>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2100">
                <a:latin typeface="Helvetica Neue"/>
                <a:ea typeface="Helvetica Neue"/>
                <a:cs typeface="Helvetica Neue"/>
              </a:rPr>
              <a:t>tools/</a:t>
            </a:r>
          </a:p>
          <a:p xmlns:a="http://schemas.openxmlformats.org/drawingml/2006/main">
            <a:pPr marL="0" indent="0">
              <a:lnSpc>
                <a:spcPct val="100000"/>
              </a:lnSpc>
              <a:spcBef>
                <a:spcPts val="1300"/>
              </a:spcBef>
              <a:spcAft>
                <a:spcPts val="1300"/>
              </a:spcAft>
              <a:buFontTx/>
              <a:buNone/>
            </a:pPr>
            <a:r>
              <a:rPr sz="2100">
                <a:latin typeface="Helvetica Neue"/>
                <a:ea typeface="Helvetica Neue"/>
                <a:cs typeface="Helvetica Neue"/>
              </a:rPr>
              <a:t>Проверки, публикация и запуск тестов.</a:t>
            </a:r>
          </a:p>
        </p:txBody>
      </p:sp>
      <p:sp>
        <p:nvSpPr>
          <p:cNvPr id="6" name="Content Placeholder 15">
            <a:extLst xmlns:a="http://schemas.openxmlformats.org/drawingml/2006/main">
              <a:ext uri="{FF2B5EF4-FFF2-40B4-BE49-F238E27FC236}">
                <a16:creationId xmlns:a16="http://schemas.microsoft.com/office/drawing/2014/main" id="{04E6B723-686B-D8DD-4DA5-3E62BDE4905A}"/>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pPr>
            <a:r>
              <a:rPr sz="2100">
                <a:latin typeface="Helvetica Neue Medium"/>
                <a:ea typeface="Helvetica Neue Medium"/>
                <a:cs typeface="Helvetica Neue Medium"/>
              </a:rPr>
              <a:t>Пакет копируется целиком</a:t>
            </a:r>
          </a:p>
          <a:p xmlns:a="http://schemas.openxmlformats.org/drawingml/2006/main">
            <a:pPr>
              <a:lnSpc>
                <a:spcPct val="114000"/>
              </a:lnSpc>
              <a:spcBef>
                <a:spcPts val="0"/>
              </a:spcBef>
              <a:spcAft>
                <a:spcPts val="600"/>
              </a:spcAft>
              <a:buNone/>
            </a:pPr>
            <a:r>
              <a:rPr sz="2100">
                <a:latin typeface="Helvetica Neue"/>
                <a:ea typeface="Helvetica Neue"/>
                <a:cs typeface="Helvetica Neue"/>
              </a:rPr>
              <a:t>Документация объясняет вход, контракты фиксируют правила, инструменты проверяют действия.</a:t>
            </a:r>
          </a:p>
        </p:txBody>
      </p:sp>
    </p:spTree>
    <p:extLst>
      <p:ext uri="{BB962C8B-B14F-4D97-AF65-F5344CB8AC3E}">
        <p14:creationId xmlns:p14="http://schemas.microsoft.com/office/powerpoint/2010/main" val="176600024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lstStyle xmlns:a="http://schemas.openxmlformats.org/drawingml/2006/main"/>
          <a:p xmlns:a="http://schemas.openxmlformats.org/drawingml/2006/main">
            <a:fld id="{00000000-1234-1234-1234-123412341234}" type="slidenum">
              <a:t>6</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rPr sz="3200"/>
              <a:t>Каждое решение оставляет артефакт</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pPr>
            <a:r>
              <a:rPr sz="2200" b="0" i="0" u="none" cap="none" spc="0">
                <a:ln>
                  <a:noFill/>
                </a:ln>
                <a:latin typeface="Helvetica Neue"/>
                <a:ea typeface="Helvetica Neue"/>
                <a:cs typeface="Helvetica Neue"/>
              </a:rPr>
              <a:t>Требование</a:t>
            </a:r>
          </a:p>
          <a:p xmlns:a="http://schemas.openxmlformats.org/drawingml/2006/main">
            <a:pPr marL="0" marR="0" lvl="0" indent="0" algn="l" defTabSz="914400">
              <a:lnSpc>
                <a:spcPct val="100000"/>
              </a:lnSpc>
              <a:spcBef>
                <a:spcPts val="1300"/>
              </a:spcBef>
              <a:spcAft>
                <a:spcPts val="1300"/>
              </a:spcAft>
              <a:buClrTx/>
              <a:buSzTx/>
              <a:buFontTx/>
              <a:buNone/>
            </a:pPr>
            <a:r>
              <a:rPr sz="2200" b="0" i="0" u="none" cap="none" spc="0">
                <a:ln>
                  <a:noFill/>
                </a:ln>
                <a:latin typeface="Helvetica Neue"/>
                <a:ea typeface="Helvetica Neue"/>
                <a:cs typeface="Helvetica Neue"/>
              </a:rPr>
              <a:t>Откуда взялось ожидаемое поведение и к какой задаче оно относится.</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pPr>
            <a:r>
              <a:rPr sz="2200" b="0" i="0" u="none" cap="none" spc="0">
                <a:ln>
                  <a:noFill/>
                </a:ln>
                <a:latin typeface="Helvetica Neue"/>
                <a:ea typeface="Helvetica Neue"/>
                <a:cs typeface="Helvetica Neue"/>
              </a:rPr>
              <a:t>Тест-кейс</a:t>
            </a:r>
          </a:p>
          <a:p xmlns:a="http://schemas.openxmlformats.org/drawingml/2006/main">
            <a:pPr marL="0" marR="0" lvl="0" indent="0" algn="l" defTabSz="914400">
              <a:lnSpc>
                <a:spcPct val="100000"/>
              </a:lnSpc>
              <a:spcBef>
                <a:spcPts val="1300"/>
              </a:spcBef>
              <a:spcAft>
                <a:spcPts val="1300"/>
              </a:spcAft>
              <a:buClrTx/>
              <a:buSzTx/>
              <a:buFontTx/>
              <a:buNone/>
            </a:pPr>
            <a:r>
              <a:rPr sz="2200" b="0" i="0" u="none" cap="none" spc="0">
                <a:ln>
                  <a:noFill/>
                </a:ln>
                <a:latin typeface="Helvetica Neue"/>
                <a:ea typeface="Helvetica Neue"/>
                <a:cs typeface="Helvetica Neue"/>
              </a:rPr>
              <a:t>Условия, конкретные действия и наблюдаемый результат каждого шага.</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2200">
                <a:latin typeface="Helvetica Neue"/>
                <a:ea typeface="Helvetica Neue"/>
                <a:cs typeface="Helvetica Neue"/>
              </a:rPr>
              <a:t>Автотест</a:t>
            </a:r>
          </a:p>
          <a:p xmlns:a="http://schemas.openxmlformats.org/drawingml/2006/main">
            <a:pPr marL="0" indent="0">
              <a:lnSpc>
                <a:spcPct val="100000"/>
              </a:lnSpc>
              <a:spcBef>
                <a:spcPts val="1300"/>
              </a:spcBef>
              <a:spcAft>
                <a:spcPts val="1300"/>
              </a:spcAft>
              <a:buFontTx/>
              <a:buNone/>
            </a:pPr>
            <a:r>
              <a:rPr sz="2200">
                <a:latin typeface="Helvetica Neue"/>
                <a:ea typeface="Helvetica Neue"/>
                <a:cs typeface="Helvetica Neue"/>
              </a:rPr>
              <a:t>Файл и метод, которые реализуют согласованный сценарий.</a:t>
            </a:r>
            <a:endParaRPr sz="1800">
              <a:latin typeface="Helvetica Neue"/>
              <a:ea typeface="Helvetica Neue"/>
              <a:cs typeface="Helvetica Neue"/>
            </a:endParaRP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2200">
                <a:latin typeface="Helvetica Neue"/>
                <a:ea typeface="Helvetica Neue"/>
                <a:cs typeface="Helvetica Neue"/>
              </a:rPr>
              <a:t>Результат</a:t>
            </a:r>
          </a:p>
          <a:p xmlns:a="http://schemas.openxmlformats.org/drawingml/2006/main">
            <a:pPr marL="0" indent="0">
              <a:lnSpc>
                <a:spcPct val="100000"/>
              </a:lnSpc>
              <a:spcBef>
                <a:spcPts val="1300"/>
              </a:spcBef>
              <a:spcAft>
                <a:spcPts val="1300"/>
              </a:spcAft>
              <a:buFontTx/>
              <a:buNone/>
            </a:pPr>
            <a:r>
              <a:rPr sz="2200">
                <a:latin typeface="Helvetica Neue"/>
                <a:ea typeface="Helvetica Neue"/>
                <a:cs typeface="Helvetica Neue"/>
              </a:rPr>
              <a:t>Отчёт запуска и проверяемая связь с кейсом и требованием.</a:t>
            </a:r>
            <a:endParaRPr sz="1800">
              <a:latin typeface="Helvetica Neue"/>
              <a:ea typeface="Helvetica Neue"/>
              <a:cs typeface="Helvetica Neue"/>
            </a:endParaRPr>
          </a:p>
        </p:txBody>
      </p:sp>
    </p:spTree>
    <p:extLst>
      <p:ext uri="{BB962C8B-B14F-4D97-AF65-F5344CB8AC3E}">
        <p14:creationId xmlns:p14="http://schemas.microsoft.com/office/powerpoint/2010/main" val="36014548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8C44867F-CEA9-06EF-47ED-8F63A6DAE6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787BCE7D-BEA2-12A4-00CE-1447A3C11BCB}"/>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7</a:t>
            </a:fld>
            <a:endParaRPr/>
          </a:p>
        </p:txBody>
      </p:sp>
      <p:sp>
        <p:nvSpPr>
          <p:cNvPr id="533" name="Google Shape;533;p58">
            <a:extLst xmlns:a="http://schemas.openxmlformats.org/drawingml/2006/main">
              <a:ext uri="{FF2B5EF4-FFF2-40B4-BE49-F238E27FC236}">
                <a16:creationId xmlns:a16="http://schemas.microsoft.com/office/drawing/2014/main" id="{451E053B-8CD7-DAF7-BA60-B58D00D61D06}"/>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sz="3200"/>
              <a:t>Запуск ограничен выбранной задачей</a:t>
            </a:r>
          </a:p>
        </p:txBody>
      </p:sp>
      <p:sp>
        <p:nvSpPr>
          <p:cNvPr id="534" name="Google Shape;534;p58">
            <a:extLst xmlns:a="http://schemas.openxmlformats.org/drawingml/2006/main">
              <a:ext uri="{FF2B5EF4-FFF2-40B4-BE49-F238E27FC236}">
                <a16:creationId xmlns:a16="http://schemas.microsoft.com/office/drawing/2014/main" id="{92B9D060-8F6B-685E-C699-7CF3FDA228BA}"/>
              </a:ext>
            </a:extLst>
          </p:cNvPr>
          <p:cNvSpPr>
            <a:spLocks xmlns:a="http://schemas.openxmlformats.org/drawingml/2006/main" noGrp="1"/>
          </p:cNvSpPr>
          <p:nvPr>
            <p:ph idx="4294967295"/>
          </p:nvPr>
        </p:nvSpPr>
        <p:spPr>
          <a:xfrm xmlns:a="http://schemas.openxmlformats.org/drawingml/2006/main">
            <a:off x="393700" y="1722438"/>
            <a:ext cx="5537200" cy="8651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sz="2400">
                <a:latin typeface="Helvetica Neue"/>
                <a:ea typeface="Helvetica Neue"/>
                <a:cs typeface="Helvetica Neue"/>
              </a:rPr>
              <a:t>Модель предлагает.</a:t>
            </a:r>
            <a:endParaRPr>
              <a:latin typeface="Helvetica Neue"/>
              <a:ea typeface="Helvetica Neue"/>
              <a:cs typeface="Helvetica Neue"/>
            </a:endParaRPr>
          </a:p>
          <a:p xmlns:a="http://schemas.openxmlformats.org/drawingml/2006/main">
            <a:pPr marL="0" indent="0">
              <a:lnSpc>
                <a:spcPct val="114000"/>
              </a:lnSpc>
              <a:spcBef>
                <a:spcPts val="0"/>
              </a:spcBef>
              <a:spcAft>
                <a:spcPts val="800"/>
              </a:spcAft>
              <a:buNone/>
            </a:pPr>
            <a:r>
              <a:rPr sz="2400">
                <a:latin typeface="Helvetica Neue"/>
                <a:ea typeface="Helvetica Neue"/>
                <a:cs typeface="Helvetica Neue"/>
              </a:rPr>
              <a:t>Инструменты проверяют и выполняют.</a:t>
            </a:r>
            <a:endParaRPr>
              <a:latin typeface="Helvetica Neue"/>
              <a:ea typeface="Helvetica Neue"/>
              <a:cs typeface="Helvetica Neue"/>
            </a:endParaRPr>
          </a:p>
        </p:txBody>
      </p:sp>
      <p:sp>
        <p:nvSpPr>
          <p:cNvPr id="2" name="Content Placeholder 10">
            <a:extLst xmlns:a="http://schemas.openxmlformats.org/drawingml/2006/main">
              <a:ext uri="{FF2B5EF4-FFF2-40B4-BE49-F238E27FC236}">
                <a16:creationId xmlns:a16="http://schemas.microsoft.com/office/drawing/2014/main" id="{F1357382-F889-8A40-7C64-C4E276E66544}"/>
              </a:ext>
            </a:extLst>
          </p:cNvPr>
          <p:cNvSpPr>
            <a:spLocks xmlns:a="http://schemas.openxmlformats.org/drawingml/2006/main" noGrp="1"/>
          </p:cNvSpPr>
          <p:nvPr/>
        </p:nvSpPr>
        <p:spPr>
          <a:xfrm xmlns:a="http://schemas.openxmlformats.org/drawingml/2006/main">
            <a:off x="7886700" y="2990317"/>
            <a:ext cx="3911600" cy="54875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900">
                <a:latin typeface="Helvetica Neue"/>
                <a:ea typeface="Helvetica Neue"/>
                <a:cs typeface="Helvetica Neue"/>
              </a:rPr>
              <a:t>Явное разрешение на запуск</a:t>
            </a:r>
          </a:p>
        </p:txBody>
      </p:sp>
      <p:sp>
        <p:nvSpPr>
          <p:cNvPr id="3" name="Google Shape;340;p61">
            <a:extLst xmlns:a="http://schemas.openxmlformats.org/drawingml/2006/main">
              <a:ext uri="{FF2B5EF4-FFF2-40B4-BE49-F238E27FC236}">
                <a16:creationId xmlns:a16="http://schemas.microsoft.com/office/drawing/2014/main" id="{DECE1942-1885-9577-DF5F-685A8B1C7180}"/>
              </a:ext>
            </a:extLst>
          </p:cNvPr>
          <p:cNvSpPr>
            <a:spLocks xmlns:a="http://schemas.openxmlformats.org/drawingml/2006/main" noGrp="1"/>
          </p:cNvSpPr>
          <p:nvPr/>
        </p:nvSpPr>
        <p:spPr>
          <a:xfrm xmlns:a="http://schemas.openxmlformats.org/drawingml/2006/main">
            <a:off x="7507725" y="3015150"/>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chemeClr val="tx1"/>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12" name="TextBox 11">
            <a:extLst xmlns:a="http://schemas.openxmlformats.org/drawingml/2006/main">
              <a:ext uri="{FF2B5EF4-FFF2-40B4-BE49-F238E27FC236}">
                <a16:creationId xmlns:a16="http://schemas.microsoft.com/office/drawing/2014/main" id="{70BD0609-EAC0-DFEC-8761-6C5A72DB268A}"/>
              </a:ext>
            </a:extLst>
          </p:cNvPr>
          <p:cNvSpPr>
            <a:spLocks xmlns:a="http://schemas.openxmlformats.org/drawingml/2006/main" noGrp="1"/>
          </p:cNvSpPr>
          <p:nvPr/>
        </p:nvSpPr>
        <p:spPr>
          <a:xfrm xmlns:a="http://schemas.openxmlformats.org/drawingml/2006/main">
            <a:off x="393700" y="2990316"/>
            <a:ext cx="5537200" cy="288463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pPr>
            <a:r>
              <a:rPr sz="2200" b="0" i="0" u="none" cap="none" spc="0">
                <a:ln>
                  <a:noFill/>
                </a:ln>
                <a:latin typeface="Helvetica Neue"/>
                <a:ea typeface="Helvetica Neue"/>
                <a:cs typeface="Helvetica Neue"/>
              </a:rPr>
              <a:t>Проект и модуль фиксируются для конкретного запуска.</a:t>
            </a:r>
          </a:p>
          <a:p xmlns:a="http://schemas.openxmlformats.org/drawingml/2006/main">
            <a:pPr marL="0" marR="0" lvl="0" indent="0" algn="l" defTabSz="914400">
              <a:lnSpc>
                <a:spcPct val="114000"/>
              </a:lnSpc>
              <a:spcBef>
                <a:spcPts val="0"/>
              </a:spcBef>
              <a:spcAft>
                <a:spcPts val="800"/>
              </a:spcAft>
              <a:buClrTx/>
              <a:buSzTx/>
              <a:buFont typeface="Arial"/>
              <a:buNone/>
            </a:pPr>
            <a:r>
              <a:rPr sz="2200" b="0" i="0" u="none" cap="none" spc="0">
                <a:ln>
                  <a:noFill/>
                </a:ln>
                <a:latin typeface="Helvetica Neue"/>
                <a:ea typeface="Helvetica Neue"/>
                <a:cs typeface="Helvetica Neue"/>
              </a:rPr>
              <a:t>Автоматизация проходит ревью перед выполнением.</a:t>
            </a:r>
          </a:p>
          <a:p xmlns:a="http://schemas.openxmlformats.org/drawingml/2006/main">
            <a:pPr marL="0" marR="0" lvl="0" indent="0" algn="l" defTabSz="914400">
              <a:lnSpc>
                <a:spcPct val="114000"/>
              </a:lnSpc>
              <a:spcBef>
                <a:spcPts val="0"/>
              </a:spcBef>
              <a:spcAft>
                <a:spcPts val="800"/>
              </a:spcAft>
              <a:buClrTx/>
              <a:buSzTx/>
              <a:buFont typeface="Arial"/>
              <a:buNone/>
            </a:pPr>
            <a:r>
              <a:rPr sz="2200" b="0" i="0" u="none" cap="none" spc="0">
                <a:ln>
                  <a:noFill/>
                </a:ln>
                <a:latin typeface="Helvetica Neue"/>
                <a:ea typeface="Helvetica Neue"/>
                <a:cs typeface="Helvetica Neue"/>
              </a:rPr>
              <a:t>Окружение проекта должно быть подготовлено заранее.</a:t>
            </a:r>
          </a:p>
        </p:txBody>
      </p:sp>
      <p:sp>
        <p:nvSpPr>
          <p:cNvPr id="16" name="Content Placeholder 10">
            <a:extLst xmlns:a="http://schemas.openxmlformats.org/drawingml/2006/main">
              <a:ext uri="{FF2B5EF4-FFF2-40B4-BE49-F238E27FC236}">
                <a16:creationId xmlns:a16="http://schemas.microsoft.com/office/drawing/2014/main" id="{01B260BF-9264-3C70-DF2D-2E6EA83AC133}"/>
              </a:ext>
            </a:extLst>
          </p:cNvPr>
          <p:cNvSpPr>
            <a:spLocks xmlns:a="http://schemas.openxmlformats.org/drawingml/2006/main" noGrp="1"/>
          </p:cNvSpPr>
          <p:nvPr/>
        </p:nvSpPr>
        <p:spPr>
          <a:xfrm xmlns:a="http://schemas.openxmlformats.org/drawingml/2006/main">
            <a:off x="7886700" y="3599916"/>
            <a:ext cx="3911600" cy="54875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900">
                <a:latin typeface="Helvetica Neue"/>
                <a:ea typeface="Helvetica Neue"/>
                <a:cs typeface="Helvetica Neue"/>
              </a:rPr>
              <a:t>Только проверенные цели тестов</a:t>
            </a:r>
          </a:p>
        </p:txBody>
      </p:sp>
      <p:sp>
        <p:nvSpPr>
          <p:cNvPr id="17" name="Google Shape;340;p61">
            <a:extLst xmlns:a="http://schemas.openxmlformats.org/drawingml/2006/main">
              <a:ext uri="{FF2B5EF4-FFF2-40B4-BE49-F238E27FC236}">
                <a16:creationId xmlns:a16="http://schemas.microsoft.com/office/drawing/2014/main" id="{A6CF1E9A-BF4C-E7B2-D556-8AB5FB2B65F0}"/>
              </a:ext>
            </a:extLst>
          </p:cNvPr>
          <p:cNvSpPr>
            <a:spLocks xmlns:a="http://schemas.openxmlformats.org/drawingml/2006/main" noGrp="1"/>
          </p:cNvSpPr>
          <p:nvPr/>
        </p:nvSpPr>
        <p:spPr>
          <a:xfrm xmlns:a="http://schemas.openxmlformats.org/drawingml/2006/main">
            <a:off x="7507725" y="3624749"/>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chemeClr val="tx1"/>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18" name="Content Placeholder 10">
            <a:extLst xmlns:a="http://schemas.openxmlformats.org/drawingml/2006/main">
              <a:ext uri="{FF2B5EF4-FFF2-40B4-BE49-F238E27FC236}">
                <a16:creationId xmlns:a16="http://schemas.microsoft.com/office/drawing/2014/main" id="{FE696631-18B5-8115-E5AD-ACCFD6221418}"/>
              </a:ext>
            </a:extLst>
          </p:cNvPr>
          <p:cNvSpPr>
            <a:spLocks xmlns:a="http://schemas.openxmlformats.org/drawingml/2006/main" noGrp="1"/>
          </p:cNvSpPr>
          <p:nvPr/>
        </p:nvSpPr>
        <p:spPr>
          <a:xfrm xmlns:a="http://schemas.openxmlformats.org/drawingml/2006/main">
            <a:off x="7886700" y="4214765"/>
            <a:ext cx="3911600" cy="54875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900">
                <a:latin typeface="Helvetica Neue"/>
                <a:ea typeface="Helvetica Neue"/>
                <a:cs typeface="Helvetica Neue"/>
              </a:rPr>
              <a:t>Штатные pytest, Maven или Gradle</a:t>
            </a:r>
          </a:p>
        </p:txBody>
      </p:sp>
      <p:sp>
        <p:nvSpPr>
          <p:cNvPr id="19" name="Google Shape;340;p61">
            <a:extLst xmlns:a="http://schemas.openxmlformats.org/drawingml/2006/main">
              <a:ext uri="{FF2B5EF4-FFF2-40B4-BE49-F238E27FC236}">
                <a16:creationId xmlns:a16="http://schemas.microsoft.com/office/drawing/2014/main" id="{6ECBDA1E-6C7D-6B0F-A430-DF8A0965C58D}"/>
              </a:ext>
            </a:extLst>
          </p:cNvPr>
          <p:cNvSpPr>
            <a:spLocks xmlns:a="http://schemas.openxmlformats.org/drawingml/2006/main" noGrp="1"/>
          </p:cNvSpPr>
          <p:nvPr/>
        </p:nvSpPr>
        <p:spPr>
          <a:xfrm xmlns:a="http://schemas.openxmlformats.org/drawingml/2006/main">
            <a:off x="7507725" y="4239598"/>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chemeClr val="tx1"/>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20" name="Content Placeholder 10">
            <a:extLst xmlns:a="http://schemas.openxmlformats.org/drawingml/2006/main">
              <a:ext uri="{FF2B5EF4-FFF2-40B4-BE49-F238E27FC236}">
                <a16:creationId xmlns:a16="http://schemas.microsoft.com/office/drawing/2014/main" id="{9FC4B09F-4593-687E-52A3-7E683F7FE9E4}"/>
              </a:ext>
            </a:extLst>
          </p:cNvPr>
          <p:cNvSpPr>
            <a:spLocks xmlns:a="http://schemas.openxmlformats.org/drawingml/2006/main" noGrp="1"/>
          </p:cNvSpPr>
          <p:nvPr/>
        </p:nvSpPr>
        <p:spPr>
          <a:xfrm xmlns:a="http://schemas.openxmlformats.org/drawingml/2006/main">
            <a:off x="7886700" y="4824364"/>
            <a:ext cx="3911600" cy="54875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900">
                <a:latin typeface="Helvetica Neue"/>
                <a:ea typeface="Helvetica Neue"/>
                <a:cs typeface="Helvetica Neue"/>
              </a:rPr>
              <a:t>Учёт созданных файлов</a:t>
            </a:r>
          </a:p>
        </p:txBody>
      </p:sp>
      <p:sp>
        <p:nvSpPr>
          <p:cNvPr id="21" name="Google Shape;340;p61">
            <a:extLst xmlns:a="http://schemas.openxmlformats.org/drawingml/2006/main">
              <a:ext uri="{FF2B5EF4-FFF2-40B4-BE49-F238E27FC236}">
                <a16:creationId xmlns:a16="http://schemas.microsoft.com/office/drawing/2014/main" id="{006032E6-DDFC-FA22-4D08-3BFFC755BB8D}"/>
              </a:ext>
            </a:extLst>
          </p:cNvPr>
          <p:cNvSpPr>
            <a:spLocks xmlns:a="http://schemas.openxmlformats.org/drawingml/2006/main" noGrp="1"/>
          </p:cNvSpPr>
          <p:nvPr/>
        </p:nvSpPr>
        <p:spPr>
          <a:xfrm xmlns:a="http://schemas.openxmlformats.org/drawingml/2006/main">
            <a:off x="7507725" y="4849197"/>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chemeClr val="tx1"/>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23" name="Content Placeholder 10">
            <a:extLst xmlns:a="http://schemas.openxmlformats.org/drawingml/2006/main">
              <a:ext uri="{FF2B5EF4-FFF2-40B4-BE49-F238E27FC236}">
                <a16:creationId xmlns:a16="http://schemas.microsoft.com/office/drawing/2014/main" id="{EDAB1F81-E12B-29DC-E09F-27F129E42AE8}"/>
              </a:ext>
            </a:extLst>
          </p:cNvPr>
          <p:cNvSpPr>
            <a:spLocks xmlns:a="http://schemas.openxmlformats.org/drawingml/2006/main" noGrp="1"/>
          </p:cNvSpPr>
          <p:nvPr/>
        </p:nvSpPr>
        <p:spPr>
          <a:xfrm xmlns:a="http://schemas.openxmlformats.org/drawingml/2006/main">
            <a:off x="7886700" y="5446664"/>
            <a:ext cx="3911600" cy="54875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900">
                <a:latin typeface="Helvetica Neue"/>
                <a:ea typeface="Helvetica Neue"/>
                <a:cs typeface="Helvetica Neue"/>
              </a:rPr>
              <a:t>Отчёты и история попытки</a:t>
            </a:r>
          </a:p>
        </p:txBody>
      </p:sp>
      <p:sp>
        <p:nvSpPr>
          <p:cNvPr id="24" name="Google Shape;340;p61">
            <a:extLst xmlns:a="http://schemas.openxmlformats.org/drawingml/2006/main">
              <a:ext uri="{FF2B5EF4-FFF2-40B4-BE49-F238E27FC236}">
                <a16:creationId xmlns:a16="http://schemas.microsoft.com/office/drawing/2014/main" id="{A052337A-4696-49F7-A089-E21DA71AD3B2}"/>
              </a:ext>
            </a:extLst>
          </p:cNvPr>
          <p:cNvSpPr>
            <a:spLocks xmlns:a="http://schemas.openxmlformats.org/drawingml/2006/main" noGrp="1"/>
          </p:cNvSpPr>
          <p:nvPr/>
        </p:nvSpPr>
        <p:spPr>
          <a:xfrm xmlns:a="http://schemas.openxmlformats.org/drawingml/2006/main">
            <a:off x="7507725" y="5471497"/>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chemeClr val="tx1"/>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Tree>
    <p:extLst>
      <p:ext uri="{BB962C8B-B14F-4D97-AF65-F5344CB8AC3E}">
        <p14:creationId xmlns:p14="http://schemas.microsoft.com/office/powerpoint/2010/main" val="333187913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7" name="Footer Placeholder 6">
            <a:extLst xmlns:a="http://schemas.openxmlformats.org/drawingml/2006/main">
              <a:ext uri="{FF2B5EF4-FFF2-40B4-BE49-F238E27FC236}">
                <a16:creationId xmlns:a16="http://schemas.microsoft.com/office/drawing/2014/main" id="{3AC3A10F-8642-8154-9AEA-7110D289C62E}"/>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BBF0163-E4B1-61D1-776D-45470B16F0F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fld id="{8574A810-7A8E-054F-9F6B-09E9C694ECF9}" type="slidenum">
              <a:t>8</a:t>
            </a:fld>
            <a:endParaRPr/>
          </a:p>
        </p:txBody>
      </p:sp>
      <p:sp>
        <p:nvSpPr>
          <p:cNvPr id="11" name="Title 10">
            <a:extLst xmlns:a="http://schemas.openxmlformats.org/drawingml/2006/main">
              <a:ext uri="{FF2B5EF4-FFF2-40B4-BE49-F238E27FC236}">
                <a16:creationId xmlns:a16="http://schemas.microsoft.com/office/drawing/2014/main" id="{9759E2FE-9F02-E1B4-EBBC-AA8624ACC339}"/>
              </a:ext>
            </a:extLst>
          </p:cNvPr>
          <p:cNvSpPr>
            <a:spLocks xmlns:a="http://schemas.openxmlformats.org/drawingml/2006/main" noGrp="1"/>
          </p:cNvSpPr>
          <p:nvPr>
            <p:ph type="title" idx="0"/>
          </p:nvPr>
        </p:nvSpPr>
        <p:spPr>
          <a:xfrm xmlns:a="http://schemas.openxmlformats.org/drawingml/2006/main">
            <a:off x="390525" y="342900"/>
            <a:ext cx="11401425" cy="1047750"/>
          </a:xfrm>
        </p:spPr>
        <p:txBody>
          <a:bodyPr xmlns:a="http://schemas.openxmlformats.org/drawingml/2006/main"/>
          <a:lstStyle xmlns:a="http://schemas.openxmlformats.org/drawingml/2006/main"/>
          <a:p xmlns:a="http://schemas.openxmlformats.org/drawingml/2006/main">
            <a:r>
              <a:rPr sz="3200"/>
              <a:t>Запуск начинается с требований</a:t>
            </a:r>
          </a:p>
        </p:txBody>
      </p:sp>
      <p:cxnSp>
        <p:nvCxnSpPr>
          <p:cNvPr id="23" name="Google Shape;2259;p159"/>
          <p:cNvCxnSpPr>
            <a:stCxn xmlns:a="http://schemas.openxmlformats.org/drawingml/2006/main" id="3" idx="2"/>
          </p:cNvCxnSpPr>
          <p:nvPr/>
        </p:nvCxnSpPr>
        <p:spPr>
          <a:xfrm xmlns:a="http://schemas.openxmlformats.org/drawingml/2006/main">
            <a:off x="337718" y="3373753"/>
            <a:ext cx="12245400" cy="300"/>
          </a:xfrm>
          <a:prstGeom xmlns:a="http://schemas.openxmlformats.org/drawingml/2006/main" prst="straightConnector1">
            <a:avLst/>
          </a:prstGeom>
          <a:ln xmlns:a="http://schemas.openxmlformats.org/drawingml/2006/main" w="9525" cap="flat">
            <a:solidFill>
              <a:schemeClr val="tx1"/>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39A86B1D-EA5D-3FA6-7D83-8F21D70E330E}"/>
              </a:ext>
            </a:extLst>
          </p:cNvPr>
          <p:cNvSpPr>
            <a:spLocks xmlns:a="http://schemas.openxmlformats.org/drawingml/2006/main" noGrp="1"/>
          </p:cNvSpPr>
          <p:nvPr/>
        </p:nvSpPr>
        <p:spPr>
          <a:xfrm xmlns:a="http://schemas.openxmlformats.org/drawingml/2006/main">
            <a:off x="337718" y="3320203"/>
            <a:ext cx="107100" cy="107100"/>
          </a:xfrm>
          <a:prstGeom xmlns:a="http://schemas.openxmlformats.org/drawingml/2006/main" prst="ellipse">
            <a:avLst/>
          </a:prstGeom>
          <a:solidFill xmlns:a="http://schemas.openxmlformats.org/drawingml/2006/main">
            <a:schemeClr val="tx1"/>
          </a:solidFill>
          <a:ln xmlns:a="http://schemas.openxmlformats.org/drawingml/2006/main">
            <a:solidFill>
              <a:schemeClr val="tx1"/>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A1013DAF-A2C3-BC42-73D5-9D8AB55DCA94}"/>
              </a:ext>
            </a:extLst>
          </p:cNvPr>
          <p:cNvSpPr>
            <a:spLocks xmlns:a="http://schemas.openxmlformats.org/drawingml/2006/main" noGrp="1"/>
          </p:cNvSpPr>
          <p:nvPr/>
        </p:nvSpPr>
        <p:spPr>
          <a:xfrm xmlns:a="http://schemas.openxmlformats.org/drawingml/2006/main">
            <a:off x="4251750" y="3320203"/>
            <a:ext cx="107100" cy="107100"/>
          </a:xfrm>
          <a:prstGeom xmlns:a="http://schemas.openxmlformats.org/drawingml/2006/main" prst="ellipse">
            <a:avLst/>
          </a:prstGeom>
          <a:solidFill xmlns:a="http://schemas.openxmlformats.org/drawingml/2006/main">
            <a:schemeClr val="tx1"/>
          </a:solidFill>
          <a:ln xmlns:a="http://schemas.openxmlformats.org/drawingml/2006/main">
            <a:solidFill>
              <a:schemeClr val="tx1"/>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4654A74A-2C40-A8C6-E9F9-43C58A3ADE20}"/>
              </a:ext>
            </a:extLst>
          </p:cNvPr>
          <p:cNvSpPr>
            <a:spLocks xmlns:a="http://schemas.openxmlformats.org/drawingml/2006/main" noGrp="1"/>
          </p:cNvSpPr>
          <p:nvPr/>
        </p:nvSpPr>
        <p:spPr>
          <a:xfrm xmlns:a="http://schemas.openxmlformats.org/drawingml/2006/main">
            <a:off x="8176050" y="3320203"/>
            <a:ext cx="107100" cy="107100"/>
          </a:xfrm>
          <a:prstGeom xmlns:a="http://schemas.openxmlformats.org/drawingml/2006/main" prst="ellipse">
            <a:avLst/>
          </a:prstGeom>
          <a:solidFill xmlns:a="http://schemas.openxmlformats.org/drawingml/2006/main">
            <a:schemeClr val="tx1"/>
          </a:solidFill>
          <a:ln xmlns:a="http://schemas.openxmlformats.org/drawingml/2006/main">
            <a:solidFill>
              <a:schemeClr val="tx1"/>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9" name="Content Placeholder 15">
            <a:extLst xmlns:a="http://schemas.openxmlformats.org/drawingml/2006/main">
              <a:ext uri="{FF2B5EF4-FFF2-40B4-BE49-F238E27FC236}">
                <a16:creationId xmlns:a16="http://schemas.microsoft.com/office/drawing/2014/main" id="{76C75857-E8EA-1B37-0464-3C7048D7FBEB}"/>
              </a:ext>
            </a:extLst>
          </p:cNvPr>
          <p:cNvSpPr>
            <a:spLocks xmlns:a="http://schemas.openxmlformats.org/drawingml/2006/main" noGrp="1"/>
          </p:cNvSpPr>
          <p:nvPr/>
        </p:nvSpPr>
        <p:spPr>
          <a:xfrm xmlns:a="http://schemas.openxmlformats.org/drawingml/2006/main">
            <a:off x="393700"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01</a:t>
            </a:r>
          </a:p>
        </p:txBody>
      </p:sp>
      <p:sp>
        <p:nvSpPr>
          <p:cNvPr id="13" name="Content Placeholder 15">
            <a:extLst xmlns:a="http://schemas.openxmlformats.org/drawingml/2006/main">
              <a:ext uri="{FF2B5EF4-FFF2-40B4-BE49-F238E27FC236}">
                <a16:creationId xmlns:a16="http://schemas.microsoft.com/office/drawing/2014/main" id="{76AEECBA-C292-6302-8A8E-7EB14A54E420}"/>
              </a:ext>
            </a:extLst>
          </p:cNvPr>
          <p:cNvSpPr>
            <a:spLocks xmlns:a="http://schemas.openxmlformats.org/drawingml/2006/main" noGrp="1"/>
          </p:cNvSpPr>
          <p:nvPr/>
        </p:nvSpPr>
        <p:spPr>
          <a:xfrm xmlns:a="http://schemas.openxmlformats.org/drawingml/2006/main">
            <a:off x="4294187"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02</a:t>
            </a:r>
          </a:p>
        </p:txBody>
      </p:sp>
      <p:sp>
        <p:nvSpPr>
          <p:cNvPr id="14" name="Content Placeholder 15">
            <a:extLst xmlns:a="http://schemas.openxmlformats.org/drawingml/2006/main">
              <a:ext uri="{FF2B5EF4-FFF2-40B4-BE49-F238E27FC236}">
                <a16:creationId xmlns:a16="http://schemas.microsoft.com/office/drawing/2014/main" id="{95982BB0-2387-9BAA-9F14-F45500C04700}"/>
              </a:ext>
            </a:extLst>
          </p:cNvPr>
          <p:cNvSpPr>
            <a:spLocks xmlns:a="http://schemas.openxmlformats.org/drawingml/2006/main" noGrp="1"/>
          </p:cNvSpPr>
          <p:nvPr/>
        </p:nvSpPr>
        <p:spPr>
          <a:xfrm xmlns:a="http://schemas.openxmlformats.org/drawingml/2006/main">
            <a:off x="8223249"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03</a:t>
            </a:r>
          </a:p>
        </p:txBody>
      </p:sp>
      <p:sp>
        <p:nvSpPr>
          <p:cNvPr id="8" name="Text Placeholder 16">
            <a:extLst xmlns:a="http://schemas.openxmlformats.org/drawingml/2006/main">
              <a:ext uri="{FF2B5EF4-FFF2-40B4-BE49-F238E27FC236}">
                <a16:creationId xmlns:a16="http://schemas.microsoft.com/office/drawing/2014/main" id="{D0EE3B6B-F07C-271E-2F97-41D7686F1C33}"/>
              </a:ext>
            </a:extLst>
          </p:cNvPr>
          <p:cNvSpPr>
            <a:spLocks xmlns:a="http://schemas.openxmlformats.org/drawingml/2006/main" noGrp="1"/>
          </p:cNvSpPr>
          <p:nvPr/>
        </p:nvSpPr>
        <p:spPr>
          <a:xfrm xmlns:a="http://schemas.openxmlformats.org/drawingml/2006/main">
            <a:off x="4317118"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100">
                <a:latin typeface="Helvetica Neue"/>
                <a:ea typeface="Helvetica Neue"/>
                <a:cs typeface="Helvetica Neue"/>
              </a:rPr>
              <a:t>Подключить</a:t>
            </a:r>
          </a:p>
          <a:p xmlns:a="http://schemas.openxmlformats.org/drawingml/2006/main">
            <a:pPr marL="0" indent="0">
              <a:lnSpc>
                <a:spcPct val="114000"/>
              </a:lnSpc>
              <a:spcBef>
                <a:spcPts val="0"/>
              </a:spcBef>
              <a:spcAft>
                <a:spcPts val="800"/>
              </a:spcAft>
              <a:buFont typeface="Arial"/>
              <a:buNone/>
            </a:pPr>
            <a:r>
              <a:rPr sz="2100">
                <a:latin typeface="Helvetica Neue"/>
                <a:ea typeface="Helvetica Neue"/>
                <a:cs typeface="Helvetica Neue"/>
              </a:rPr>
              <a:t>Скопировать пакет целиком в .tools/test-skills.</a:t>
            </a:r>
          </a:p>
        </p:txBody>
      </p:sp>
      <p:sp>
        <p:nvSpPr>
          <p:cNvPr id="15" name="Text Placeholder 16">
            <a:extLst xmlns:a="http://schemas.openxmlformats.org/drawingml/2006/main">
              <a:ext uri="{FF2B5EF4-FFF2-40B4-BE49-F238E27FC236}">
                <a16:creationId xmlns:a16="http://schemas.microsoft.com/office/drawing/2014/main" id="{B3EA0E10-C778-6971-AFB5-9B9B52B082D5}"/>
              </a:ext>
            </a:extLst>
          </p:cNvPr>
          <p:cNvSpPr>
            <a:spLocks xmlns:a="http://schemas.openxmlformats.org/drawingml/2006/main" noGrp="1"/>
          </p:cNvSpPr>
          <p:nvPr/>
        </p:nvSpPr>
        <p:spPr>
          <a:xfrm xmlns:a="http://schemas.openxmlformats.org/drawingml/2006/main">
            <a:off x="399873"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100">
                <a:latin typeface="Helvetica Neue"/>
                <a:ea typeface="Helvetica Neue"/>
                <a:cs typeface="Helvetica Neue"/>
              </a:rPr>
              <a:t>Подготовить</a:t>
            </a:r>
          </a:p>
          <a:p xmlns:a="http://schemas.openxmlformats.org/drawingml/2006/main">
            <a:pPr marL="0" indent="0">
              <a:lnSpc>
                <a:spcPct val="114000"/>
              </a:lnSpc>
              <a:spcBef>
                <a:spcPts val="0"/>
              </a:spcBef>
              <a:spcAft>
                <a:spcPts val="800"/>
              </a:spcAft>
              <a:buFont typeface="Arial"/>
              <a:buNone/>
            </a:pPr>
            <a:r>
              <a:rPr sz="2100">
                <a:latin typeface="Helvetica Neue"/>
                <a:ea typeface="Helvetica Neue"/>
                <a:cs typeface="Helvetica Neue"/>
              </a:rPr>
              <a:t>Проект, зависимости и документ требований к одной фиче.</a:t>
            </a:r>
          </a:p>
        </p:txBody>
      </p:sp>
      <p:sp>
        <p:nvSpPr>
          <p:cNvPr id="19" name="Text Placeholder 16">
            <a:extLst xmlns:a="http://schemas.openxmlformats.org/drawingml/2006/main">
              <a:ext uri="{FF2B5EF4-FFF2-40B4-BE49-F238E27FC236}">
                <a16:creationId xmlns:a16="http://schemas.microsoft.com/office/drawing/2014/main" id="{5A9F39A9-7A23-0F85-F761-1AB9FA6B8FDE}"/>
              </a:ext>
            </a:extLst>
          </p:cNvPr>
          <p:cNvSpPr>
            <a:spLocks xmlns:a="http://schemas.openxmlformats.org/drawingml/2006/main" noGrp="1"/>
          </p:cNvSpPr>
          <p:nvPr/>
        </p:nvSpPr>
        <p:spPr>
          <a:xfrm xmlns:a="http://schemas.openxmlformats.org/drawingml/2006/main">
            <a:off x="8177917"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100">
                <a:latin typeface="Helvetica Neue"/>
                <a:ea typeface="Helvetica Neue"/>
                <a:cs typeface="Helvetica Neue"/>
              </a:rPr>
              <a:t>Вызвать скилл</a:t>
            </a:r>
          </a:p>
          <a:p xmlns:a="http://schemas.openxmlformats.org/drawingml/2006/main">
            <a:pPr marL="0" indent="0">
              <a:lnSpc>
                <a:spcPct val="114000"/>
              </a:lnSpc>
              <a:spcBef>
                <a:spcPts val="0"/>
              </a:spcBef>
              <a:spcAft>
                <a:spcPts val="800"/>
              </a:spcAft>
              <a:buFont typeface="Arial"/>
              <a:buNone/>
            </a:pPr>
            <a:r>
              <a:rPr sz="2100">
                <a:latin typeface="Helvetica Neue"/>
                <a:ea typeface="Helvetica Neue"/>
                <a:cs typeface="Helvetica Neue"/>
              </a:rPr>
              <a:t>Указать orchestrate, документ, модуль и выбранный профиль.</a:t>
            </a:r>
          </a:p>
        </p:txBody>
      </p:sp>
    </p:spTree>
    <p:extLst>
      <p:ext uri="{BB962C8B-B14F-4D97-AF65-F5344CB8AC3E}">
        <p14:creationId xmlns:p14="http://schemas.microsoft.com/office/powerpoint/2010/main" val="344633891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6" name="Rounded Rectangle 5">
            <a:extLst xmlns:a="http://schemas.openxmlformats.org/drawingml/2006/main">
              <a:ext uri="{FF2B5EF4-FFF2-40B4-BE49-F238E27FC236}">
                <a16:creationId xmlns:a16="http://schemas.microsoft.com/office/drawing/2014/main" id="{3595FF69-AA88-8653-2D13-3E0289A12A44}"/>
              </a:ext>
            </a:extLst>
          </p:cNvPr>
          <p:cNvSpPr>
            <a:spLocks xmlns:a="http://schemas.openxmlformats.org/drawingml/2006/main" noGrp="1"/>
          </p:cNvSpPr>
          <p:nvPr/>
        </p:nvSpPr>
        <p:spPr>
          <a:xfrm xmlns:a="http://schemas.openxmlformats.org/drawingml/2006/main">
            <a:off x="393700" y="3022600"/>
            <a:ext cx="3568700" cy="29718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ounded Rectangle 6">
            <a:extLst xmlns:a="http://schemas.openxmlformats.org/drawingml/2006/main">
              <a:ext uri="{FF2B5EF4-FFF2-40B4-BE49-F238E27FC236}">
                <a16:creationId xmlns:a16="http://schemas.microsoft.com/office/drawing/2014/main" id="{E3AFD29D-9AD2-841D-0915-B4BDDC09C0B7}"/>
              </a:ext>
            </a:extLst>
          </p:cNvPr>
          <p:cNvSpPr>
            <a:spLocks xmlns:a="http://schemas.openxmlformats.org/drawingml/2006/main" noGrp="1"/>
          </p:cNvSpPr>
          <p:nvPr/>
        </p:nvSpPr>
        <p:spPr>
          <a:xfrm xmlns:a="http://schemas.openxmlformats.org/drawingml/2006/main">
            <a:off x="4311650" y="3022600"/>
            <a:ext cx="3568700" cy="29718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ounded Rectangle 7">
            <a:extLst xmlns:a="http://schemas.openxmlformats.org/drawingml/2006/main">
              <a:ext uri="{FF2B5EF4-FFF2-40B4-BE49-F238E27FC236}">
                <a16:creationId xmlns:a16="http://schemas.microsoft.com/office/drawing/2014/main" id="{7A10D6BE-4B8A-E31D-9AC6-AEB4FCD518B2}"/>
              </a:ext>
            </a:extLst>
          </p:cNvPr>
          <p:cNvSpPr>
            <a:spLocks xmlns:a="http://schemas.openxmlformats.org/drawingml/2006/main" noGrp="1"/>
          </p:cNvSpPr>
          <p:nvPr/>
        </p:nvSpPr>
        <p:spPr>
          <a:xfrm xmlns:a="http://schemas.openxmlformats.org/drawingml/2006/main">
            <a:off x="8232297" y="3022600"/>
            <a:ext cx="3568700" cy="29718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Slide Number Placeholder 1">
            <a:extLst xmlns:a="http://schemas.openxmlformats.org/drawingml/2006/main">
              <a:ext uri="{FF2B5EF4-FFF2-40B4-BE49-F238E27FC236}">
                <a16:creationId xmlns:a16="http://schemas.microsoft.com/office/drawing/2014/main" id="{908090F4-C2CE-1329-8725-AC98A6AF8F60}"/>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pPr>
              <a:spcBef>
                <a:spcPts val="0"/>
              </a:spcBef>
              <a:spcAft>
                <a:spcPts val="600"/>
              </a:spcAft>
              <a:buNone/>
            </a:pPr>
            <a:fld id="{00000000-1234-1234-1234-123412341234}" type="slidenum">
              <a:t>9</a:t>
            </a:fld>
            <a:endParaRPr/>
          </a:p>
        </p:txBody>
      </p:sp>
      <p:sp>
        <p:nvSpPr>
          <p:cNvPr id="3" name="Title 2">
            <a:extLst xmlns:a="http://schemas.openxmlformats.org/drawingml/2006/main">
              <a:ext uri="{FF2B5EF4-FFF2-40B4-BE49-F238E27FC236}">
                <a16:creationId xmlns:a16="http://schemas.microsoft.com/office/drawing/2014/main" id="{B64EBD68-6C7C-E1E5-F754-A2CABD28D4B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spcBef>
                <a:spcPts val="0"/>
              </a:spcBef>
              <a:spcAft>
                <a:spcPts val="600"/>
              </a:spcAft>
              <a:buNone/>
            </a:pPr>
            <a:r>
              <a:rPr sz="3200"/>
              <a:t>Spring Petclinic: выполнены все 64 теста</a:t>
            </a:r>
            <a:endParaRPr/>
          </a:p>
        </p:txBody>
      </p:sp>
      <p:sp>
        <p:nvSpPr>
          <p:cNvPr id="10" name="Content Placeholder 9">
            <a:extLst xmlns:a="http://schemas.openxmlformats.org/drawingml/2006/main">
              <a:ext uri="{FF2B5EF4-FFF2-40B4-BE49-F238E27FC236}">
                <a16:creationId xmlns:a16="http://schemas.microsoft.com/office/drawing/2014/main" id="{E8352425-466B-B7C0-4556-B12F3F4F6DB3}"/>
              </a:ext>
            </a:extLst>
          </p:cNvPr>
          <p:cNvSpPr>
            <a:spLocks xmlns:a="http://schemas.openxmlformats.org/drawingml/2006/main" noGrp="1"/>
          </p:cNvSpPr>
          <p:nvPr>
            <p:ph idx="4294967295"/>
          </p:nvPr>
        </p:nvSpPr>
        <p:spPr>
          <a:xfrm xmlns:a="http://schemas.openxmlformats.org/drawingml/2006/main">
            <a:off x="702413" y="4900613"/>
            <a:ext cx="2949575" cy="819150"/>
          </a:xfrm>
        </p:spPr>
        <p:txBody>
          <a:bodyPr xmlns:a="http://schemas.openxmlformats.org/drawingml/2006/main">
            <a:normAutofit/>
          </a:bodyPr>
          <a:lstStyle xmlns:a="http://schemas.openxmlformats.org/drawingml/2006/main"/>
          <a:p xmlns:a="http://schemas.openxmlformats.org/drawingml/2006/main">
            <a:pPr marL="0" marR="0" lvl="0" indent="0" algn="l" defTabSz="914400">
              <a:lnSpc>
                <a:spcPct val="100000"/>
              </a:lnSpc>
              <a:spcBef>
                <a:spcPts val="0"/>
              </a:spcBef>
              <a:spcAft>
                <a:spcPts val="600"/>
              </a:spcAft>
              <a:buClrTx/>
              <a:buSzTx/>
              <a:buFontTx/>
              <a:buNone/>
            </a:pPr>
            <a:r>
              <a:rPr sz="2100" b="0" i="0" u="none" cap="none" spc="0">
                <a:ln>
                  <a:noFill/>
                </a:ln>
                <a:latin typeface="Helvetica Neue"/>
                <a:ea typeface="Helvetica Neue"/>
                <a:cs typeface="Helvetica Neue"/>
              </a:rPr>
              <a:t>тест-кейса</a:t>
            </a:r>
          </a:p>
          <a:p xmlns:a="http://schemas.openxmlformats.org/drawingml/2006/main">
            <a:pPr marL="0" marR="0" lvl="0" indent="0" algn="l" defTabSz="914400">
              <a:lnSpc>
                <a:spcPct val="100000"/>
              </a:lnSpc>
              <a:spcBef>
                <a:spcPts val="0"/>
              </a:spcBef>
              <a:spcAft>
                <a:spcPts val="600"/>
              </a:spcAft>
              <a:buClrTx/>
              <a:buSzTx/>
              <a:buFontTx/>
              <a:buNone/>
            </a:pPr>
            <a:r>
              <a:rPr sz="2100" b="0" i="0" u="none" cap="none" spc="0">
                <a:ln>
                  <a:noFill/>
                </a:ln>
                <a:latin typeface="Helvetica Neue"/>
                <a:ea typeface="Helvetica Neue"/>
                <a:cs typeface="Helvetica Neue"/>
              </a:rPr>
              <a:t>и метода автотестов</a:t>
            </a:r>
          </a:p>
        </p:txBody>
      </p:sp>
      <p:sp>
        <p:nvSpPr>
          <p:cNvPr id="11" name="Content Placeholder 10">
            <a:extLst xmlns:a="http://schemas.openxmlformats.org/drawingml/2006/main">
              <a:ext uri="{FF2B5EF4-FFF2-40B4-BE49-F238E27FC236}">
                <a16:creationId xmlns:a16="http://schemas.microsoft.com/office/drawing/2014/main" id="{9D1B4876-C319-B371-36B9-745CADB662E1}"/>
              </a:ext>
            </a:extLst>
          </p:cNvPr>
          <p:cNvSpPr>
            <a:spLocks xmlns:a="http://schemas.openxmlformats.org/drawingml/2006/main" noGrp="1"/>
          </p:cNvSpPr>
          <p:nvPr>
            <p:ph idx="4294967295"/>
          </p:nvPr>
        </p:nvSpPr>
        <p:spPr>
          <a:xfrm xmlns:a="http://schemas.openxmlformats.org/drawingml/2006/main">
            <a:off x="8541859" y="4900613"/>
            <a:ext cx="2949575" cy="819150"/>
          </a:xfrm>
        </p:spPr>
        <p:txBody>
          <a:bodyPr xmlns:a="http://schemas.openxmlformats.org/drawingml/2006/main">
            <a:normAutofit/>
          </a:bodyPr>
          <a:lstStyle xmlns:a="http://schemas.openxmlformats.org/drawingml/2006/main"/>
          <a:p xmlns:a="http://schemas.openxmlformats.org/drawingml/2006/main">
            <a:pPr marL="0" marR="0" lvl="0" indent="0" algn="l" defTabSz="914400">
              <a:lnSpc>
                <a:spcPct val="100000"/>
              </a:lnSpc>
              <a:spcBef>
                <a:spcPts val="0"/>
              </a:spcBef>
              <a:spcAft>
                <a:spcPts val="600"/>
              </a:spcAft>
              <a:buClrTx/>
              <a:buSzTx/>
              <a:buFontTx/>
              <a:buNone/>
            </a:pPr>
            <a:r>
              <a:rPr sz="2100" b="0" i="0" u="none" cap="none" spc="0">
                <a:ln>
                  <a:noFill/>
                </a:ln>
                <a:latin typeface="Helvetica Neue"/>
                <a:ea typeface="Helvetica Neue"/>
                <a:cs typeface="Helvetica Neue"/>
              </a:rPr>
              <a:t>тест выявил</a:t>
            </a:r>
          </a:p>
          <a:p xmlns:a="http://schemas.openxmlformats.org/drawingml/2006/main">
            <a:pPr marL="0" marR="0" lvl="0" indent="0" algn="l" defTabSz="914400">
              <a:lnSpc>
                <a:spcPct val="100000"/>
              </a:lnSpc>
              <a:spcBef>
                <a:spcPts val="0"/>
              </a:spcBef>
              <a:spcAft>
                <a:spcPts val="600"/>
              </a:spcAft>
              <a:buClrTx/>
              <a:buSzTx/>
              <a:buFontTx/>
              <a:buNone/>
            </a:pPr>
            <a:r>
              <a:rPr sz="2100" b="0" i="0" u="none" cap="none" spc="0">
                <a:ln>
                  <a:noFill/>
                </a:ln>
                <a:latin typeface="Helvetica Neue"/>
                <a:ea typeface="Helvetica Neue"/>
                <a:cs typeface="Helvetica Neue"/>
              </a:rPr>
              <a:t>нарушение требования</a:t>
            </a:r>
          </a:p>
        </p:txBody>
      </p:sp>
      <p:sp>
        <p:nvSpPr>
          <p:cNvPr id="12" name="Content Placeholder 11">
            <a:extLst xmlns:a="http://schemas.openxmlformats.org/drawingml/2006/main">
              <a:ext uri="{FF2B5EF4-FFF2-40B4-BE49-F238E27FC236}">
                <a16:creationId xmlns:a16="http://schemas.microsoft.com/office/drawing/2014/main" id="{1BDFAF15-9B61-BA2E-0381-0DE8F578A81F}"/>
              </a:ext>
            </a:extLst>
          </p:cNvPr>
          <p:cNvSpPr>
            <a:spLocks xmlns:a="http://schemas.openxmlformats.org/drawingml/2006/main" noGrp="1"/>
          </p:cNvSpPr>
          <p:nvPr>
            <p:ph idx="4294967295"/>
          </p:nvPr>
        </p:nvSpPr>
        <p:spPr>
          <a:xfrm xmlns:a="http://schemas.openxmlformats.org/drawingml/2006/main">
            <a:off x="4621211" y="4900613"/>
            <a:ext cx="2949575" cy="819150"/>
          </a:xfrm>
        </p:spPr>
        <p:txBody>
          <a:bodyPr xmlns:a="http://schemas.openxmlformats.org/drawingml/2006/main">
            <a:normAutofit/>
          </a:bodyPr>
          <a:lstStyle xmlns:a="http://schemas.openxmlformats.org/drawingml/2006/main"/>
          <a:p xmlns:a="http://schemas.openxmlformats.org/drawingml/2006/main">
            <a:pPr marL="0" marR="0" lvl="0" indent="0" algn="l" defTabSz="914400">
              <a:lnSpc>
                <a:spcPct val="100000"/>
              </a:lnSpc>
              <a:spcBef>
                <a:spcPts val="0"/>
              </a:spcBef>
              <a:spcAft>
                <a:spcPts val="600"/>
              </a:spcAft>
              <a:buClrTx/>
              <a:buSzTx/>
              <a:buFontTx/>
              <a:buNone/>
            </a:pPr>
            <a:r>
              <a:rPr sz="2100" b="0" i="0" u="none" cap="none" spc="0">
                <a:ln>
                  <a:noFill/>
                </a:ln>
                <a:latin typeface="Helvetica Neue"/>
                <a:ea typeface="Helvetica Neue"/>
                <a:cs typeface="Helvetica Neue"/>
              </a:rPr>
              <a:t>теста</a:t>
            </a:r>
          </a:p>
          <a:p xmlns:a="http://schemas.openxmlformats.org/drawingml/2006/main">
            <a:pPr marL="0" marR="0" lvl="0" indent="0" algn="l" defTabSz="914400">
              <a:lnSpc>
                <a:spcPct val="100000"/>
              </a:lnSpc>
              <a:spcBef>
                <a:spcPts val="0"/>
              </a:spcBef>
              <a:spcAft>
                <a:spcPts val="600"/>
              </a:spcAft>
              <a:buClrTx/>
              <a:buSzTx/>
              <a:buFontTx/>
              <a:buNone/>
            </a:pPr>
            <a:r>
              <a:rPr sz="2100" b="0" i="0" u="none" cap="none" spc="0">
                <a:ln>
                  <a:noFill/>
                </a:ln>
                <a:latin typeface="Helvetica Neue"/>
                <a:ea typeface="Helvetica Neue"/>
                <a:cs typeface="Helvetica Neue"/>
              </a:rPr>
              <a:t>прошли</a:t>
            </a:r>
          </a:p>
        </p:txBody>
      </p:sp>
      <p:sp>
        <p:nvSpPr>
          <p:cNvPr id="13" name="Content Placeholder 9">
            <a:extLst xmlns:a="http://schemas.openxmlformats.org/drawingml/2006/main">
              <a:ext uri="{FF2B5EF4-FFF2-40B4-BE49-F238E27FC236}">
                <a16:creationId xmlns:a16="http://schemas.microsoft.com/office/drawing/2014/main" id="{EDBA9068-3E52-4988-B608-4CED930E45CC}"/>
              </a:ext>
            </a:extLst>
          </p:cNvPr>
          <p:cNvSpPr>
            <a:spLocks xmlns:a="http://schemas.openxmlformats.org/drawingml/2006/main" noGrp="1"/>
          </p:cNvSpPr>
          <p:nvPr/>
        </p:nvSpPr>
        <p:spPr>
          <a:xfrm xmlns:a="http://schemas.openxmlformats.org/drawingml/2006/main">
            <a:off x="702413" y="3429000"/>
            <a:ext cx="2940124" cy="1359356"/>
          </a:xfrm>
          <a:prstGeom xmlns:a="http://schemas.openxmlformats.org/drawingml/2006/main" prst="rect">
            <a:avLst/>
          </a:prstGeom>
        </p:spPr>
        <p:txBody>
          <a:bodyPr xmlns:a="http://schemas.openxmlformats.org/drawingml/2006/main" vert="horz" lIns="0" tIns="0" rIns="0" bIns="0" anchor="b">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600"/>
              </a:spcAft>
              <a:buClr>
                <a:prstClr val="black"/>
              </a:buClr>
              <a:buSzPts val="1400"/>
              <a:buNone/>
            </a:pPr>
            <a:r>
              <a:rPr sz="7500" b="0" i="0" u="none" cap="none" spc="0">
                <a:ln>
                  <a:noFill/>
                </a:ln>
                <a:latin typeface="Helvetica Neue"/>
                <a:ea typeface="Helvetica Neue"/>
                <a:cs typeface="Helvetica Neue"/>
              </a:rPr>
              <a:t>64</a:t>
            </a:r>
            <a:endParaRPr sz="7500"/>
          </a:p>
        </p:txBody>
      </p:sp>
      <p:sp>
        <p:nvSpPr>
          <p:cNvPr id="4" name="Content Placeholder 9">
            <a:extLst xmlns:a="http://schemas.openxmlformats.org/drawingml/2006/main">
              <a:ext uri="{FF2B5EF4-FFF2-40B4-BE49-F238E27FC236}">
                <a16:creationId xmlns:a16="http://schemas.microsoft.com/office/drawing/2014/main" id="{553D01BD-BEDA-E1D7-8112-CCD78E0BB0D4}"/>
              </a:ext>
            </a:extLst>
          </p:cNvPr>
          <p:cNvSpPr>
            <a:spLocks xmlns:a="http://schemas.openxmlformats.org/drawingml/2006/main" noGrp="1"/>
          </p:cNvSpPr>
          <p:nvPr/>
        </p:nvSpPr>
        <p:spPr>
          <a:xfrm xmlns:a="http://schemas.openxmlformats.org/drawingml/2006/main">
            <a:off x="4612932" y="3429000"/>
            <a:ext cx="2940124" cy="1359356"/>
          </a:xfrm>
          <a:prstGeom xmlns:a="http://schemas.openxmlformats.org/drawingml/2006/main" prst="rect">
            <a:avLst/>
          </a:prstGeom>
        </p:spPr>
        <p:txBody>
          <a:bodyPr xmlns:a="http://schemas.openxmlformats.org/drawingml/2006/main" vert="horz" lIns="0" tIns="0" rIns="0" bIns="0" anchor="b">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600"/>
              </a:spcAft>
              <a:buClr>
                <a:prstClr val="black"/>
              </a:buClr>
              <a:buSzPts val="1400"/>
              <a:buNone/>
            </a:pPr>
            <a:r>
              <a:rPr sz="7500" b="0" i="0" u="none" cap="none" spc="0">
                <a:ln>
                  <a:noFill/>
                </a:ln>
                <a:latin typeface="Helvetica Neue"/>
                <a:ea typeface="Helvetica Neue"/>
                <a:cs typeface="Helvetica Neue"/>
              </a:rPr>
              <a:t>63</a:t>
            </a:r>
            <a:endParaRPr sz="7500"/>
          </a:p>
        </p:txBody>
      </p:sp>
      <p:sp>
        <p:nvSpPr>
          <p:cNvPr id="5" name="Content Placeholder 9">
            <a:extLst xmlns:a="http://schemas.openxmlformats.org/drawingml/2006/main">
              <a:ext uri="{FF2B5EF4-FFF2-40B4-BE49-F238E27FC236}">
                <a16:creationId xmlns:a16="http://schemas.microsoft.com/office/drawing/2014/main" id="{5AE7C386-15B3-0C22-BD29-DB00B9F7FAA9}"/>
              </a:ext>
            </a:extLst>
          </p:cNvPr>
          <p:cNvSpPr>
            <a:spLocks xmlns:a="http://schemas.openxmlformats.org/drawingml/2006/main" noGrp="1"/>
          </p:cNvSpPr>
          <p:nvPr/>
        </p:nvSpPr>
        <p:spPr>
          <a:xfrm xmlns:a="http://schemas.openxmlformats.org/drawingml/2006/main">
            <a:off x="8562362" y="3429000"/>
            <a:ext cx="2940124" cy="1359356"/>
          </a:xfrm>
          <a:prstGeom xmlns:a="http://schemas.openxmlformats.org/drawingml/2006/main" prst="rect">
            <a:avLst/>
          </a:prstGeom>
        </p:spPr>
        <p:txBody>
          <a:bodyPr xmlns:a="http://schemas.openxmlformats.org/drawingml/2006/main" vert="horz" lIns="0" tIns="0" rIns="0" bIns="0" anchor="b">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600"/>
              </a:spcAft>
              <a:buClr>
                <a:prstClr val="black"/>
              </a:buClr>
              <a:buSzPts val="1400"/>
              <a:buNone/>
            </a:pPr>
            <a:r>
              <a:rPr sz="7500" b="0" i="0" u="none" cap="none" spc="0">
                <a:ln>
                  <a:noFill/>
                </a:ln>
                <a:latin typeface="Helvetica Neue"/>
                <a:ea typeface="Helvetica Neue"/>
                <a:cs typeface="Helvetica Neue"/>
              </a:rPr>
              <a:t>1</a:t>
            </a:r>
            <a:endParaRPr sz="7500"/>
          </a:p>
        </p:txBody>
      </p:sp>
      <p:sp>
        <p:nvSpPr>
          <p:cNvPr id="14" name="Content Placeholder 15">
            <a:extLst xmlns:a="http://schemas.openxmlformats.org/drawingml/2006/main">
              <a:ext uri="{FF2B5EF4-FFF2-40B4-BE49-F238E27FC236}">
                <a16:creationId xmlns:a16="http://schemas.microsoft.com/office/drawing/2014/main" id="{45E38982-B0CA-BEBE-C656-B7F62835ADB0}"/>
              </a:ext>
            </a:extLst>
          </p:cNvPr>
          <p:cNvSpPr>
            <a:spLocks xmlns:a="http://schemas.openxmlformats.org/drawingml/2006/main" noGrp="1"/>
          </p:cNvSpPr>
          <p:nvPr/>
        </p:nvSpPr>
        <p:spPr>
          <a:xfrm xmlns:a="http://schemas.openxmlformats.org/drawingml/2006/main">
            <a:off x="393700" y="1138300"/>
            <a:ext cx="11404599" cy="1599406"/>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pPr>
            <a:r>
              <a:rPr sz="2200">
                <a:latin typeface="Helvetica Neue Medium"/>
                <a:ea typeface="Helvetica Neue Medium"/>
                <a:cs typeface="Helvetica Neue Medium"/>
              </a:rPr>
              <a:t>Жизненный цикл владельца, питомца и визита</a:t>
            </a:r>
          </a:p>
          <a:p xmlns:a="http://schemas.openxmlformats.org/drawingml/2006/main">
            <a:pPr>
              <a:lnSpc>
                <a:spcPct val="114000"/>
              </a:lnSpc>
              <a:spcBef>
                <a:spcPts val="0"/>
              </a:spcBef>
              <a:spcAft>
                <a:spcPts val="600"/>
              </a:spcAft>
              <a:buNone/>
            </a:pPr>
            <a:r>
              <a:rPr sz="2200">
                <a:latin typeface="Helvetica Neue"/>
                <a:ea typeface="Helvetica Neue"/>
                <a:cs typeface="Helvetica Neue"/>
              </a:rPr>
              <a:t>Windows, Java 17, Maven, H2. Большой прогон от 07.09.2026.</a:t>
            </a:r>
          </a:p>
        </p:txBody>
      </p:sp>
      <p:sp>
        <p:nvSpPr>
          <p:cNvPr id="9" name="Footer Placeholder 6">
            <a:extLst xmlns:a="http://schemas.openxmlformats.org/drawingml/2006/main">
              <a:ext uri="{FF2B5EF4-FFF2-40B4-BE49-F238E27FC236}">
                <a16:creationId xmlns:a16="http://schemas.microsoft.com/office/drawing/2014/main" id="{7472BC53-6948-EE0F-E8E5-5488EF53DFE8}"/>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236961682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534" name="Google Shape;534;p58">
            <a:extLst xmlns:a="http://schemas.openxmlformats.org/drawingml/2006/main">
              <a:ext uri="{FF2B5EF4-FFF2-40B4-BE49-F238E27FC236}">
                <a16:creationId xmlns:a16="http://schemas.microsoft.com/office/drawing/2014/main" id="{C936F667-D10C-5292-AA3B-96BE2CAC84D9}"/>
              </a:ext>
            </a:extLst>
          </p:cNvPr>
          <p:cNvSpPr>
            <a:spLocks xmlns:a="http://schemas.openxmlformats.org/drawingml/2006/main" noGrp="1"/>
          </p:cNvSpPr>
          <p:nvPr>
            <p:ph idx="1"/>
          </p:nvPr>
        </p:nvSpPr>
        <p:spPr>
          <a:xfrm xmlns:a="http://schemas.openxmlformats.org/drawingml/2006/main">
            <a:off x="393700" y="1838848"/>
            <a:ext cx="5533190" cy="4155552"/>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sz="2300">
                <a:latin typeface="Helvetica Neue"/>
                <a:ea typeface="Helvetica Neue"/>
                <a:cs typeface="Helvetica Neue"/>
              </a:rPr>
              <a:t>Ожидаемое поведение</a:t>
            </a:r>
          </a:p>
          <a:p xmlns:a="http://schemas.openxmlformats.org/drawingml/2006/main">
            <a:pPr marL="0" indent="0">
              <a:lnSpc>
                <a:spcPct val="114000"/>
              </a:lnSpc>
              <a:spcBef>
                <a:spcPts val="0"/>
              </a:spcBef>
              <a:spcAft>
                <a:spcPts val="800"/>
              </a:spcAft>
              <a:buNone/>
            </a:pPr>
            <a:r>
              <a:rPr sz="2300">
                <a:latin typeface="Helvetica Neue"/>
                <a:ea typeface="Helvetica Neue"/>
                <a:cs typeface="Helvetica Neue"/>
              </a:rPr>
              <a:t>У существующего питомца создаём визит.</a:t>
            </a:r>
          </a:p>
          <a:p xmlns:a="http://schemas.openxmlformats.org/drawingml/2006/main">
            <a:pPr marL="0" indent="0">
              <a:lnSpc>
                <a:spcPct val="114000"/>
              </a:lnSpc>
              <a:spcBef>
                <a:spcPts val="0"/>
              </a:spcBef>
              <a:spcAft>
                <a:spcPts val="800"/>
              </a:spcAft>
              <a:buNone/>
            </a:pPr>
            <a:r>
              <a:rPr sz="2300">
                <a:latin typeface="Helvetica Neue"/>
                <a:ea typeface="Helvetica Neue"/>
                <a:cs typeface="Helvetica Neue"/>
              </a:rPr>
              <a:t>Дата пустая, описание: «Первичный осмотр».</a:t>
            </a:r>
          </a:p>
          <a:p xmlns:a="http://schemas.openxmlformats.org/drawingml/2006/main">
            <a:pPr marL="0" indent="0">
              <a:lnSpc>
                <a:spcPct val="114000"/>
              </a:lnSpc>
              <a:spcBef>
                <a:spcPts val="0"/>
              </a:spcBef>
              <a:spcAft>
                <a:spcPts val="800"/>
              </a:spcAft>
              <a:buNone/>
            </a:pPr>
            <a:r>
              <a:rPr sz="2300">
                <a:latin typeface="Helvetica Neue"/>
                <a:ea typeface="Helvetica Neue"/>
                <a:cs typeface="Helvetica Neue"/>
              </a:rPr>
              <a:t>Форма показывает ошибку даты.</a:t>
            </a:r>
          </a:p>
          <a:p xmlns:a="http://schemas.openxmlformats.org/drawingml/2006/main">
            <a:pPr marL="0" indent="0">
              <a:lnSpc>
                <a:spcPct val="114000"/>
              </a:lnSpc>
              <a:spcBef>
                <a:spcPts val="0"/>
              </a:spcBef>
              <a:spcAft>
                <a:spcPts val="800"/>
              </a:spcAft>
              <a:buNone/>
            </a:pPr>
            <a:r>
              <a:rPr sz="2300">
                <a:latin typeface="Helvetica Neue"/>
                <a:ea typeface="Helvetica Neue"/>
                <a:cs typeface="Helvetica Neue"/>
              </a:rPr>
              <a:t>Новый визит не сохраняется.</a:t>
            </a:r>
          </a:p>
        </p:txBody>
      </p:sp>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10</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sz="3200"/>
              <a:t>Пустая дата визита: ожидание и факт</a:t>
            </a:r>
          </a:p>
        </p:txBody>
      </p:sp>
      <p:sp>
        <p:nvSpPr>
          <p:cNvPr id="2" name="Google Shape;534;p58">
            <a:extLst xmlns:a="http://schemas.openxmlformats.org/drawingml/2006/main">
              <a:ext uri="{FF2B5EF4-FFF2-40B4-BE49-F238E27FC236}">
                <a16:creationId xmlns:a16="http://schemas.microsoft.com/office/drawing/2014/main" id="{A4A94F3C-B1B2-7289-7098-7C66C8A291D6}"/>
              </a:ext>
            </a:extLst>
          </p:cNvPr>
          <p:cNvSpPr>
            <a:spLocks xmlns:a="http://schemas.openxmlformats.org/drawingml/2006/main" noGrp="1"/>
          </p:cNvSpPr>
          <p:nvPr/>
        </p:nvSpPr>
        <p:spPr>
          <a:xfrm xmlns:a="http://schemas.openxmlformats.org/drawingml/2006/main">
            <a:off x="6265111" y="2192694"/>
            <a:ext cx="5537200" cy="3801706"/>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300">
                <a:latin typeface="Helvetica Neue"/>
                <a:ea typeface="Helvetica Neue"/>
                <a:cs typeface="Helvetica Neue"/>
              </a:rPr>
              <a:t>Наблюдаемый результат</a:t>
            </a:r>
          </a:p>
          <a:p xmlns:a="http://schemas.openxmlformats.org/drawingml/2006/main">
            <a:pPr marL="0" indent="0">
              <a:lnSpc>
                <a:spcPct val="114000"/>
              </a:lnSpc>
              <a:spcBef>
                <a:spcPts val="0"/>
              </a:spcBef>
              <a:spcAft>
                <a:spcPts val="800"/>
              </a:spcAft>
              <a:buFont typeface="Arial"/>
              <a:buNone/>
            </a:pPr>
            <a:r>
              <a:rPr sz="2300">
                <a:latin typeface="Helvetica Neue"/>
                <a:ea typeface="Helvetica Neue"/>
                <a:cs typeface="Helvetica Neue"/>
              </a:rPr>
              <a:t>Приложение возвращает перенаправление.</a:t>
            </a:r>
          </a:p>
          <a:p xmlns:a="http://schemas.openxmlformats.org/drawingml/2006/main">
            <a:pPr marL="0" indent="0">
              <a:lnSpc>
                <a:spcPct val="114000"/>
              </a:lnSpc>
              <a:spcBef>
                <a:spcPts val="0"/>
              </a:spcBef>
              <a:spcAft>
                <a:spcPts val="800"/>
              </a:spcAft>
              <a:buFont typeface="Arial"/>
              <a:buNone/>
            </a:pPr>
            <a:r>
              <a:rPr sz="2300">
                <a:latin typeface="Helvetica Neue"/>
                <a:ea typeface="Helvetica Neue"/>
                <a:cs typeface="Helvetica Neue"/>
              </a:rPr>
              <a:t>Ошибки поля даты нет.</a:t>
            </a:r>
          </a:p>
          <a:p xmlns:a="http://schemas.openxmlformats.org/drawingml/2006/main">
            <a:pPr marL="0" indent="0">
              <a:lnSpc>
                <a:spcPct val="114000"/>
              </a:lnSpc>
              <a:spcBef>
                <a:spcPts val="0"/>
              </a:spcBef>
              <a:spcAft>
                <a:spcPts val="800"/>
              </a:spcAft>
              <a:buFont typeface="Arial"/>
              <a:buNone/>
            </a:pPr>
            <a:r>
              <a:rPr sz="2300">
                <a:latin typeface="Helvetica Neue"/>
                <a:ea typeface="Helvetica Neue"/>
                <a:cs typeface="Helvetica Neue"/>
              </a:rPr>
              <a:t>В базе создан визит с пустой датой.</a:t>
            </a:r>
          </a:p>
          <a:p xmlns:a="http://schemas.openxmlformats.org/drawingml/2006/main">
            <a:pPr marL="0" indent="0">
              <a:lnSpc>
                <a:spcPct val="114000"/>
              </a:lnSpc>
              <a:spcBef>
                <a:spcPts val="0"/>
              </a:spcBef>
              <a:spcAft>
                <a:spcPts val="800"/>
              </a:spcAft>
              <a:buFont typeface="Arial"/>
              <a:buNone/>
            </a:pPr>
            <a:r>
              <a:rPr sz="2300">
                <a:latin typeface="Helvetica Neue"/>
                <a:ea typeface="Helvetica Neue"/>
                <a:cs typeface="Helvetica Neue"/>
              </a:rPr>
              <a:t>Тест завершился FAIL.</a:t>
            </a:r>
          </a:p>
        </p:txBody>
      </p:sp>
    </p:spTree>
    <p:extLst>
      <p:ext uri="{BB962C8B-B14F-4D97-AF65-F5344CB8AC3E}">
        <p14:creationId xmlns:p14="http://schemas.microsoft.com/office/powerpoint/2010/main" val="54622172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02BAAA24-F157-F288-22D7-97AEA157EFE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52A30403-4B2D-2E15-7A2F-51A6DF6BE5D5}"/>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11</a:t>
            </a:fld>
            <a:endParaRPr/>
          </a:p>
        </p:txBody>
      </p:sp>
      <p:sp>
        <p:nvSpPr>
          <p:cNvPr id="533" name="Google Shape;533;p58">
            <a:extLst xmlns:a="http://schemas.openxmlformats.org/drawingml/2006/main">
              <a:ext uri="{FF2B5EF4-FFF2-40B4-BE49-F238E27FC236}">
                <a16:creationId xmlns:a16="http://schemas.microsoft.com/office/drawing/2014/main" id="{0A2BB6CD-1085-4638-68F3-7000FD29EA07}"/>
              </a:ext>
            </a:extLst>
          </p:cNvPr>
          <p:cNvSpPr>
            <a:spLocks xmlns:a="http://schemas.openxmlformats.org/drawingml/2006/main" noGrp="1"/>
          </p:cNvSpPr>
          <p:nvPr>
            <p:ph type="title" idx="0"/>
          </p:nvPr>
        </p:nvSpPr>
        <p:spPr>
          <a:xfrm xmlns:a="http://schemas.openxmlformats.org/drawingml/2006/main">
            <a:off x="393700" y="344488"/>
            <a:ext cx="11404600" cy="644297"/>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sz="3200"/>
              <a:t>Одинаковый смысл в кейсе и в коде</a:t>
            </a:r>
          </a:p>
        </p:txBody>
      </p:sp>
      <p:sp>
        <p:nvSpPr>
          <p:cNvPr id="2" name="Rounded Rectangle 1">
            <a:extLst xmlns:a="http://schemas.openxmlformats.org/drawingml/2006/main">
              <a:ext uri="{FF2B5EF4-FFF2-40B4-BE49-F238E27FC236}">
                <a16:creationId xmlns:a16="http://schemas.microsoft.com/office/drawing/2014/main" id="{390FBCE0-CCE2-0D7F-19D7-0DA59E2FBD28}"/>
              </a:ext>
            </a:extLst>
          </p:cNvPr>
          <p:cNvSpPr>
            <a:spLocks xmlns:a="http://schemas.openxmlformats.org/drawingml/2006/main" noGrp="1"/>
          </p:cNvSpPr>
          <p:nvPr/>
        </p:nvSpPr>
        <p:spPr>
          <a:xfrm xmlns:a="http://schemas.openxmlformats.org/drawingml/2006/main">
            <a:off x="397013" y="3339053"/>
            <a:ext cx="5533887" cy="1320801"/>
          </a:xfrm>
          <a:prstGeom xmlns:a="http://schemas.openxmlformats.org/drawingml/2006/main" prst="roundRect">
            <a:avLst>
              <a:gd name="adj" fmla="val 0"/>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Content Placeholder 10">
            <a:extLst xmlns:a="http://schemas.openxmlformats.org/drawingml/2006/main">
              <a:ext uri="{FF2B5EF4-FFF2-40B4-BE49-F238E27FC236}">
                <a16:creationId xmlns:a16="http://schemas.microsoft.com/office/drawing/2014/main" id="{31291836-42DE-4BA2-7C66-683137F113DF}"/>
              </a:ext>
            </a:extLst>
          </p:cNvPr>
          <p:cNvSpPr>
            <a:spLocks xmlns:a="http://schemas.openxmlformats.org/drawingml/2006/main" noGrp="1"/>
          </p:cNvSpPr>
          <p:nvPr/>
        </p:nvSpPr>
        <p:spPr>
          <a:xfrm xmlns:a="http://schemas.openxmlformats.org/drawingml/2006/main">
            <a:off x="694248" y="3587937"/>
            <a:ext cx="4986886" cy="877788"/>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2200">
                <a:latin typeface="Helvetica Neue"/>
                <a:ea typeface="Helvetica Neue"/>
                <a:cs typeface="Helvetica Neue"/>
              </a:rPr>
              <a:t>Тест-кейс</a:t>
            </a:r>
          </a:p>
          <a:p xmlns:a="http://schemas.openxmlformats.org/drawingml/2006/main">
            <a:pPr marL="0" indent="0">
              <a:lnSpc>
                <a:spcPct val="110000"/>
              </a:lnSpc>
              <a:spcBef>
                <a:spcPts val="0"/>
              </a:spcBef>
              <a:buFontTx/>
              <a:buNone/>
            </a:pPr>
            <a:r>
              <a:rPr sz="2200">
                <a:latin typeface="Helvetica Neue"/>
                <a:ea typeface="Helvetica Neue"/>
                <a:cs typeface="Helvetica Neue"/>
              </a:rPr>
              <a:t>Условия, действие, результат</a:t>
            </a:r>
          </a:p>
        </p:txBody>
      </p:sp>
      <p:sp>
        <p:nvSpPr>
          <p:cNvPr id="4" name="Content Placeholder 15">
            <a:extLst xmlns:a="http://schemas.openxmlformats.org/drawingml/2006/main">
              <a:ext uri="{FF2B5EF4-FFF2-40B4-BE49-F238E27FC236}">
                <a16:creationId xmlns:a16="http://schemas.microsoft.com/office/drawing/2014/main" id="{3D399E38-72C8-159B-DE08-FC689A75B5E9}"/>
              </a:ext>
            </a:extLst>
          </p:cNvPr>
          <p:cNvSpPr>
            <a:spLocks xmlns:a="http://schemas.openxmlformats.org/drawingml/2006/main" noGrp="1"/>
          </p:cNvSpPr>
          <p:nvPr/>
        </p:nvSpPr>
        <p:spPr>
          <a:xfrm xmlns:a="http://schemas.openxmlformats.org/drawingml/2006/main">
            <a:off x="694248" y="4828582"/>
            <a:ext cx="5236652" cy="9779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28600" lvl="0" indent="-228600">
              <a:lnSpc>
                <a:spcPct val="114000"/>
              </a:lnSpc>
              <a:spcBef>
                <a:spcPts val="0"/>
              </a:spcBef>
              <a:spcAft>
                <a:spcPts val="600"/>
              </a:spcAft>
              <a:buFont typeface="Arial"/>
              <a:buChar char="•"/>
            </a:pPr>
            <a:r>
              <a:rPr sz="2100">
                <a:latin typeface="Helvetica Neue"/>
                <a:ea typeface="Helvetica Neue"/>
                <a:cs typeface="Helvetica Neue"/>
              </a:rPr>
              <a:t>Пустая дата</a:t>
            </a:r>
          </a:p>
          <a:p xmlns:a="http://schemas.openxmlformats.org/drawingml/2006/main">
            <a:pPr marL="228600" lvl="0" indent="-228600">
              <a:lnSpc>
                <a:spcPct val="114000"/>
              </a:lnSpc>
              <a:spcBef>
                <a:spcPts val="0"/>
              </a:spcBef>
              <a:spcAft>
                <a:spcPts val="600"/>
              </a:spcAft>
              <a:buFont typeface="Arial"/>
              <a:buChar char="•"/>
            </a:pPr>
            <a:r>
              <a:rPr sz="2100">
                <a:latin typeface="Helvetica Neue"/>
                <a:ea typeface="Helvetica Neue"/>
                <a:cs typeface="Helvetica Neue"/>
              </a:rPr>
              <a:t>Ошибка поля</a:t>
            </a:r>
          </a:p>
          <a:p xmlns:a="http://schemas.openxmlformats.org/drawingml/2006/main">
            <a:pPr marL="228600" lvl="0" indent="-228600">
              <a:lnSpc>
                <a:spcPct val="114000"/>
              </a:lnSpc>
              <a:spcBef>
                <a:spcPts val="0"/>
              </a:spcBef>
              <a:spcAft>
                <a:spcPts val="600"/>
              </a:spcAft>
              <a:buFont typeface="Arial"/>
              <a:buChar char="•"/>
            </a:pPr>
            <a:r>
              <a:rPr sz="2100">
                <a:latin typeface="Helvetica Neue"/>
                <a:ea typeface="Helvetica Neue"/>
                <a:cs typeface="Helvetica Neue"/>
              </a:rPr>
              <a:t>Нет новой записи</a:t>
            </a:r>
          </a:p>
        </p:txBody>
      </p:sp>
      <p:sp>
        <p:nvSpPr>
          <p:cNvPr id="8" name="Rounded Rectangle 7">
            <a:extLst xmlns:a="http://schemas.openxmlformats.org/drawingml/2006/main">
              <a:ext uri="{FF2B5EF4-FFF2-40B4-BE49-F238E27FC236}">
                <a16:creationId xmlns:a16="http://schemas.microsoft.com/office/drawing/2014/main" id="{5E1586E9-BDFD-E84E-20C0-875E339DC80D}"/>
              </a:ext>
            </a:extLst>
          </p:cNvPr>
          <p:cNvSpPr>
            <a:spLocks xmlns:a="http://schemas.openxmlformats.org/drawingml/2006/main" noGrp="1"/>
          </p:cNvSpPr>
          <p:nvPr/>
        </p:nvSpPr>
        <p:spPr>
          <a:xfrm xmlns:a="http://schemas.openxmlformats.org/drawingml/2006/main">
            <a:off x="6260785" y="3339053"/>
            <a:ext cx="5533887" cy="1320801"/>
          </a:xfrm>
          <a:prstGeom xmlns:a="http://schemas.openxmlformats.org/drawingml/2006/main" prst="roundRect">
            <a:avLst>
              <a:gd name="adj" fmla="val 0"/>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Content Placeholder 10">
            <a:extLst xmlns:a="http://schemas.openxmlformats.org/drawingml/2006/main">
              <a:ext uri="{FF2B5EF4-FFF2-40B4-BE49-F238E27FC236}">
                <a16:creationId xmlns:a16="http://schemas.microsoft.com/office/drawing/2014/main" id="{BDE93465-12EE-49A8-048B-A3C97C2DFE3D}"/>
              </a:ext>
            </a:extLst>
          </p:cNvPr>
          <p:cNvSpPr>
            <a:spLocks xmlns:a="http://schemas.openxmlformats.org/drawingml/2006/main" noGrp="1"/>
          </p:cNvSpPr>
          <p:nvPr/>
        </p:nvSpPr>
        <p:spPr>
          <a:xfrm xmlns:a="http://schemas.openxmlformats.org/drawingml/2006/main">
            <a:off x="6558020" y="3587937"/>
            <a:ext cx="4986886" cy="877788"/>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2200">
                <a:latin typeface="Helvetica Neue"/>
                <a:ea typeface="Helvetica Neue"/>
                <a:cs typeface="Helvetica Neue"/>
              </a:rPr>
              <a:t>Автотест</a:t>
            </a:r>
          </a:p>
          <a:p xmlns:a="http://schemas.openxmlformats.org/drawingml/2006/main">
            <a:pPr marL="0" indent="0">
              <a:lnSpc>
                <a:spcPct val="110000"/>
              </a:lnSpc>
              <a:spcBef>
                <a:spcPts val="0"/>
              </a:spcBef>
              <a:buFontTx/>
              <a:buNone/>
            </a:pPr>
            <a:r>
              <a:rPr sz="2200">
                <a:latin typeface="Helvetica Neue"/>
                <a:ea typeface="Helvetica Neue"/>
                <a:cs typeface="Helvetica Neue"/>
              </a:rPr>
              <a:t>Запрос и проверки ответа и базы</a:t>
            </a:r>
          </a:p>
        </p:txBody>
      </p:sp>
      <p:sp>
        <p:nvSpPr>
          <p:cNvPr id="13" name="Content Placeholder 15">
            <a:extLst xmlns:a="http://schemas.openxmlformats.org/drawingml/2006/main">
              <a:ext uri="{FF2B5EF4-FFF2-40B4-BE49-F238E27FC236}">
                <a16:creationId xmlns:a16="http://schemas.microsoft.com/office/drawing/2014/main" id="{0F1EA821-AA26-C1FC-F948-D100ABDE2920}"/>
              </a:ext>
            </a:extLst>
          </p:cNvPr>
          <p:cNvSpPr>
            <a:spLocks xmlns:a="http://schemas.openxmlformats.org/drawingml/2006/main" noGrp="1"/>
          </p:cNvSpPr>
          <p:nvPr/>
        </p:nvSpPr>
        <p:spPr>
          <a:xfrm xmlns:a="http://schemas.openxmlformats.org/drawingml/2006/main">
            <a:off x="6558020" y="4828582"/>
            <a:ext cx="5236652" cy="9779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28600" lvl="0" indent="-228600">
              <a:lnSpc>
                <a:spcPct val="114000"/>
              </a:lnSpc>
              <a:spcBef>
                <a:spcPts val="0"/>
              </a:spcBef>
              <a:spcAft>
                <a:spcPts val="600"/>
              </a:spcAft>
              <a:buFont typeface="Arial"/>
              <a:buChar char="•"/>
            </a:pPr>
            <a:r>
              <a:rPr sz="2100">
                <a:latin typeface="Helvetica Neue"/>
                <a:ea typeface="Helvetica Neue"/>
                <a:cs typeface="Helvetica Neue"/>
              </a:rPr>
              <a:t>MockMvc-запрос</a:t>
            </a:r>
          </a:p>
          <a:p xmlns:a="http://schemas.openxmlformats.org/drawingml/2006/main">
            <a:pPr marL="228600" lvl="0" indent="-228600">
              <a:lnSpc>
                <a:spcPct val="114000"/>
              </a:lnSpc>
              <a:spcBef>
                <a:spcPts val="0"/>
              </a:spcBef>
              <a:spcAft>
                <a:spcPts val="600"/>
              </a:spcAft>
              <a:buFont typeface="Arial"/>
              <a:buChar char="•"/>
            </a:pPr>
            <a:r>
              <a:rPr sz="2100">
                <a:latin typeface="Helvetica Neue"/>
                <a:ea typeface="Helvetica Neue"/>
                <a:cs typeface="Helvetica Neue"/>
              </a:rPr>
              <a:t>Проверка ошибки</a:t>
            </a:r>
          </a:p>
          <a:p xmlns:a="http://schemas.openxmlformats.org/drawingml/2006/main">
            <a:pPr marL="228600" lvl="0" indent="-228600">
              <a:lnSpc>
                <a:spcPct val="114000"/>
              </a:lnSpc>
              <a:spcBef>
                <a:spcPts val="0"/>
              </a:spcBef>
              <a:spcAft>
                <a:spcPts val="600"/>
              </a:spcAft>
              <a:buFont typeface="Arial"/>
              <a:buChar char="•"/>
            </a:pPr>
            <a:r>
              <a:rPr sz="2100">
                <a:latin typeface="Helvetica Neue"/>
                <a:ea typeface="Helvetica Neue"/>
                <a:cs typeface="Helvetica Neue"/>
              </a:rPr>
              <a:t>Независимое JDBC-чтение</a:t>
            </a:r>
          </a:p>
        </p:txBody>
      </p:sp>
      <p:sp>
        <p:nvSpPr>
          <p:cNvPr id="14" name="Content Placeholder 15">
            <a:extLst xmlns:a="http://schemas.openxmlformats.org/drawingml/2006/main">
              <a:ext uri="{FF2B5EF4-FFF2-40B4-BE49-F238E27FC236}">
                <a16:creationId xmlns:a16="http://schemas.microsoft.com/office/drawing/2014/main" id="{53566714-9098-3B48-6D62-954DC695F743}"/>
              </a:ext>
            </a:extLst>
          </p:cNvPr>
          <p:cNvSpPr>
            <a:spLocks xmlns:a="http://schemas.openxmlformats.org/drawingml/2006/main" noGrp="1"/>
          </p:cNvSpPr>
          <p:nvPr/>
        </p:nvSpPr>
        <p:spPr>
          <a:xfrm xmlns:a="http://schemas.openxmlformats.org/drawingml/2006/main">
            <a:off x="400939" y="1157513"/>
            <a:ext cx="11404599" cy="162922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pPr>
            <a:r>
              <a:rPr sz="2300">
                <a:latin typeface="Helvetica Neue Medium"/>
                <a:ea typeface="Helvetica Neue Medium"/>
                <a:cs typeface="Helvetica Neue Medium"/>
              </a:rPr>
              <a:t>Пример V05</a:t>
            </a:r>
          </a:p>
          <a:p xmlns:a="http://schemas.openxmlformats.org/drawingml/2006/main">
            <a:pPr>
              <a:lnSpc>
                <a:spcPct val="114000"/>
              </a:lnSpc>
              <a:spcBef>
                <a:spcPts val="0"/>
              </a:spcBef>
              <a:spcAft>
                <a:spcPts val="600"/>
              </a:spcAft>
              <a:buNone/>
            </a:pPr>
            <a:r>
              <a:rPr sz="2300">
                <a:latin typeface="Helvetica Neue"/>
                <a:ea typeface="Helvetica Neue"/>
                <a:cs typeface="Helvetica Neue"/>
              </a:rPr>
              <a:t>Требование связывается с конкретным сценарием, методом и результатом запуска.</a:t>
            </a:r>
          </a:p>
        </p:txBody>
      </p:sp>
    </p:spTree>
    <p:extLst>
      <p:ext uri="{BB962C8B-B14F-4D97-AF65-F5344CB8AC3E}">
        <p14:creationId xmlns:p14="http://schemas.microsoft.com/office/powerpoint/2010/main" val="346245865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Footer Placeholder 1">
            <a:extLst xmlns:a="http://schemas.openxmlformats.org/drawingml/2006/main">
              <a:ext uri="{FF2B5EF4-FFF2-40B4-BE49-F238E27FC236}">
                <a16:creationId xmlns:a16="http://schemas.microsoft.com/office/drawing/2014/main" id="{B4523B68-CB58-F426-D824-531128F4CB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DBC152D0-CDF3-969A-A32E-0A1C97DA936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spcBef>
                <a:spcPts val="0"/>
              </a:spcBef>
              <a:spcAft>
                <a:spcPts val="600"/>
              </a:spcAft>
              <a:buNone/>
            </a:pPr>
            <a:fld id="{00000000-1234-1234-1234-123412341234}" type="slidenum">
              <a:t>12</a:t>
            </a:fld>
            <a:endParaRPr/>
          </a:p>
        </p:txBody>
      </p:sp>
      <p:sp>
        <p:nvSpPr>
          <p:cNvPr id="533" name="Google Shape;533;p58">
            <a:extLst xmlns:a="http://schemas.openxmlformats.org/drawingml/2006/main">
              <a:ext uri="{FF2B5EF4-FFF2-40B4-BE49-F238E27FC236}">
                <a16:creationId xmlns:a16="http://schemas.microsoft.com/office/drawing/2014/main" id="{9CA28587-E9DB-FD6E-67D5-B6C4D20349B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spcBef>
                <a:spcPts val="0"/>
              </a:spcBef>
              <a:spcAft>
                <a:spcPts val="600"/>
              </a:spcAft>
              <a:buNone/>
            </a:pPr>
            <a:r>
              <a:rPr sz="3200"/>
              <a:t>«Завершено» и «прошло» различаются</a:t>
            </a:r>
          </a:p>
        </p:txBody>
      </p:sp>
      <p:sp>
        <p:nvSpPr>
          <p:cNvPr id="12" name="Content Placeholder 10">
            <a:extLst xmlns:a="http://schemas.openxmlformats.org/drawingml/2006/main">
              <a:ext uri="{FF2B5EF4-FFF2-40B4-BE49-F238E27FC236}">
                <a16:creationId xmlns:a16="http://schemas.microsoft.com/office/drawing/2014/main" id="{2575F3F3-5548-310C-CA8A-2BB5F4F14EC8}"/>
              </a:ext>
            </a:extLst>
          </p:cNvPr>
          <p:cNvSpPr>
            <a:spLocks xmlns:a="http://schemas.openxmlformats.org/drawingml/2006/main" noGrp="1"/>
          </p:cNvSpPr>
          <p:nvPr/>
        </p:nvSpPr>
        <p:spPr>
          <a:xfrm xmlns:a="http://schemas.openxmlformats.org/drawingml/2006/main">
            <a:off x="6972300" y="2374901"/>
            <a:ext cx="4826000" cy="6477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0"/>
              </a:spcBef>
              <a:spcAft>
                <a:spcPts val="600"/>
              </a:spcAft>
              <a:buFontTx/>
              <a:buNone/>
            </a:pPr>
            <a:r>
              <a:rPr sz="1900">
                <a:latin typeface="Helvetica Neue"/>
                <a:ea typeface="Helvetica Neue"/>
                <a:cs typeface="Helvetica Neue"/>
              </a:rPr>
              <a:t>TERMINAL / COMPLETE</a:t>
            </a:r>
          </a:p>
          <a:p xmlns:a="http://schemas.openxmlformats.org/drawingml/2006/main">
            <a:pPr marL="0" indent="0">
              <a:lnSpc>
                <a:spcPct val="100000"/>
              </a:lnSpc>
              <a:spcBef>
                <a:spcPts val="0"/>
              </a:spcBef>
              <a:spcAft>
                <a:spcPts val="600"/>
              </a:spcAft>
              <a:buFontTx/>
              <a:buNone/>
            </a:pPr>
            <a:r>
              <a:rPr sz="1900">
                <a:latin typeface="Helvetica Neue"/>
                <a:ea typeface="Helvetica Neue"/>
                <a:cs typeface="Helvetica Neue"/>
              </a:rPr>
              <a:t>Работа по попытке закончена.</a:t>
            </a:r>
          </a:p>
        </p:txBody>
      </p:sp>
      <p:sp>
        <p:nvSpPr>
          <p:cNvPr id="15" name="Content Placeholder 10">
            <a:extLst xmlns:a="http://schemas.openxmlformats.org/drawingml/2006/main">
              <a:ext uri="{FF2B5EF4-FFF2-40B4-BE49-F238E27FC236}">
                <a16:creationId xmlns:a16="http://schemas.microsoft.com/office/drawing/2014/main" id="{C50C3B7B-28A7-FE2B-805B-9E84EA8C0281}"/>
              </a:ext>
            </a:extLst>
          </p:cNvPr>
          <p:cNvSpPr>
            <a:spLocks xmlns:a="http://schemas.openxmlformats.org/drawingml/2006/main" noGrp="1"/>
          </p:cNvSpPr>
          <p:nvPr/>
        </p:nvSpPr>
        <p:spPr>
          <a:xfrm xmlns:a="http://schemas.openxmlformats.org/drawingml/2006/main">
            <a:off x="4851400" y="2374901"/>
            <a:ext cx="1866900" cy="6477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0"/>
              </a:spcBef>
              <a:spcAft>
                <a:spcPts val="600"/>
              </a:spcAft>
              <a:buFontTx/>
              <a:buNone/>
            </a:pPr>
            <a:r>
              <a:rPr sz="2000">
                <a:latin typeface="Helvetica Neue Medium"/>
                <a:ea typeface="Helvetica Neue Medium"/>
                <a:cs typeface="Helvetica Neue Medium"/>
              </a:rPr>
              <a:t>Процесс</a:t>
            </a:r>
          </a:p>
        </p:txBody>
      </p:sp>
      <p:sp>
        <p:nvSpPr>
          <p:cNvPr id="16" name="Content Placeholder 10">
            <a:extLst xmlns:a="http://schemas.openxmlformats.org/drawingml/2006/main">
              <a:ext uri="{FF2B5EF4-FFF2-40B4-BE49-F238E27FC236}">
                <a16:creationId xmlns:a16="http://schemas.microsoft.com/office/drawing/2014/main" id="{A989BD75-DE8D-B290-9745-1D9E8821A8C5}"/>
              </a:ext>
            </a:extLst>
          </p:cNvPr>
          <p:cNvSpPr>
            <a:spLocks xmlns:a="http://schemas.openxmlformats.org/drawingml/2006/main" noGrp="1"/>
          </p:cNvSpPr>
          <p:nvPr/>
        </p:nvSpPr>
        <p:spPr>
          <a:xfrm xmlns:a="http://schemas.openxmlformats.org/drawingml/2006/main">
            <a:off x="6972300" y="3365501"/>
            <a:ext cx="4826000" cy="6477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0"/>
              </a:spcBef>
              <a:spcAft>
                <a:spcPts val="600"/>
              </a:spcAft>
              <a:buFontTx/>
              <a:buNone/>
            </a:pPr>
            <a:r>
              <a:rPr sz="1900">
                <a:latin typeface="Helvetica Neue"/>
                <a:ea typeface="Helvetica Neue"/>
                <a:cs typeface="Helvetica Neue"/>
              </a:rPr>
              <a:t>FAIL</a:t>
            </a:r>
          </a:p>
          <a:p xmlns:a="http://schemas.openxmlformats.org/drawingml/2006/main">
            <a:pPr marL="0" indent="0">
              <a:lnSpc>
                <a:spcPct val="100000"/>
              </a:lnSpc>
              <a:spcBef>
                <a:spcPts val="0"/>
              </a:spcBef>
              <a:spcAft>
                <a:spcPts val="600"/>
              </a:spcAft>
              <a:buFontTx/>
              <a:buNone/>
            </a:pPr>
            <a:r>
              <a:rPr sz="1900">
                <a:latin typeface="Helvetica Neue"/>
                <a:ea typeface="Helvetica Neue"/>
                <a:cs typeface="Helvetica Neue"/>
              </a:rPr>
              <a:t>Есть упавшая проверка поведения.</a:t>
            </a:r>
          </a:p>
        </p:txBody>
      </p:sp>
      <p:sp>
        <p:nvSpPr>
          <p:cNvPr id="17" name="Content Placeholder 10">
            <a:extLst xmlns:a="http://schemas.openxmlformats.org/drawingml/2006/main">
              <a:ext uri="{FF2B5EF4-FFF2-40B4-BE49-F238E27FC236}">
                <a16:creationId xmlns:a16="http://schemas.microsoft.com/office/drawing/2014/main" id="{E53F591C-9E43-179D-176D-24989B8B7303}"/>
              </a:ext>
            </a:extLst>
          </p:cNvPr>
          <p:cNvSpPr>
            <a:spLocks xmlns:a="http://schemas.openxmlformats.org/drawingml/2006/main" noGrp="1"/>
          </p:cNvSpPr>
          <p:nvPr/>
        </p:nvSpPr>
        <p:spPr>
          <a:xfrm xmlns:a="http://schemas.openxmlformats.org/drawingml/2006/main">
            <a:off x="4851400" y="3365501"/>
            <a:ext cx="1866900" cy="6477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0"/>
              </a:spcBef>
              <a:spcAft>
                <a:spcPts val="600"/>
              </a:spcAft>
              <a:buFontTx/>
              <a:buNone/>
            </a:pPr>
            <a:r>
              <a:rPr sz="2000">
                <a:latin typeface="Helvetica Neue Medium"/>
                <a:ea typeface="Helvetica Neue Medium"/>
                <a:cs typeface="Helvetica Neue Medium"/>
              </a:rPr>
              <a:t>Проверка</a:t>
            </a:r>
          </a:p>
        </p:txBody>
      </p:sp>
      <p:sp>
        <p:nvSpPr>
          <p:cNvPr id="18" name="Content Placeholder 10">
            <a:extLst xmlns:a="http://schemas.openxmlformats.org/drawingml/2006/main">
              <a:ext uri="{FF2B5EF4-FFF2-40B4-BE49-F238E27FC236}">
                <a16:creationId xmlns:a16="http://schemas.microsoft.com/office/drawing/2014/main" id="{A7B38CBA-379D-8AEA-4C18-49046133E7A5}"/>
              </a:ext>
            </a:extLst>
          </p:cNvPr>
          <p:cNvSpPr>
            <a:spLocks xmlns:a="http://schemas.openxmlformats.org/drawingml/2006/main" noGrp="1"/>
          </p:cNvSpPr>
          <p:nvPr/>
        </p:nvSpPr>
        <p:spPr>
          <a:xfrm xmlns:a="http://schemas.openxmlformats.org/drawingml/2006/main">
            <a:off x="6972300" y="4356101"/>
            <a:ext cx="4826000" cy="6477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0"/>
              </a:spcBef>
              <a:spcAft>
                <a:spcPts val="600"/>
              </a:spcAft>
              <a:buFontTx/>
              <a:buNone/>
            </a:pPr>
            <a:r>
              <a:rPr sz="1900">
                <a:latin typeface="Helvetica Neue"/>
                <a:ea typeface="Helvetica Neue"/>
                <a:cs typeface="Helvetica Neue"/>
              </a:rPr>
              <a:t>FULL</a:t>
            </a:r>
          </a:p>
          <a:p xmlns:a="http://schemas.openxmlformats.org/drawingml/2006/main">
            <a:pPr marL="0" indent="0">
              <a:lnSpc>
                <a:spcPct val="100000"/>
              </a:lnSpc>
              <a:spcBef>
                <a:spcPts val="0"/>
              </a:spcBef>
              <a:spcAft>
                <a:spcPts val="600"/>
              </a:spcAft>
              <a:buFontTx/>
              <a:buNone/>
            </a:pPr>
            <a:r>
              <a:rPr sz="1900">
                <a:latin typeface="Helvetica Neue"/>
                <a:ea typeface="Helvetica Neue"/>
                <a:cs typeface="Helvetica Neue"/>
              </a:rPr>
              <a:t>В пределах canonical-набора.</a:t>
            </a:r>
          </a:p>
        </p:txBody>
      </p:sp>
      <p:sp>
        <p:nvSpPr>
          <p:cNvPr id="19" name="Content Placeholder 10">
            <a:extLst xmlns:a="http://schemas.openxmlformats.org/drawingml/2006/main">
              <a:ext uri="{FF2B5EF4-FFF2-40B4-BE49-F238E27FC236}">
                <a16:creationId xmlns:a16="http://schemas.microsoft.com/office/drawing/2014/main" id="{C558135D-EC8F-1FA0-D966-C8D4FA20ED2A}"/>
              </a:ext>
            </a:extLst>
          </p:cNvPr>
          <p:cNvSpPr>
            <a:spLocks xmlns:a="http://schemas.openxmlformats.org/drawingml/2006/main" noGrp="1"/>
          </p:cNvSpPr>
          <p:nvPr/>
        </p:nvSpPr>
        <p:spPr>
          <a:xfrm xmlns:a="http://schemas.openxmlformats.org/drawingml/2006/main">
            <a:off x="4851400" y="4356101"/>
            <a:ext cx="1866900" cy="6477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0"/>
              </a:spcBef>
              <a:spcAft>
                <a:spcPts val="600"/>
              </a:spcAft>
              <a:buFontTx/>
              <a:buNone/>
            </a:pPr>
            <a:r>
              <a:rPr sz="2000">
                <a:latin typeface="Helvetica Neue Medium"/>
                <a:ea typeface="Helvetica Neue Medium"/>
                <a:cs typeface="Helvetica Neue Medium"/>
              </a:rPr>
              <a:t>Покрытие</a:t>
            </a:r>
          </a:p>
        </p:txBody>
      </p:sp>
      <p:sp>
        <p:nvSpPr>
          <p:cNvPr id="20" name="Content Placeholder 10">
            <a:extLst xmlns:a="http://schemas.openxmlformats.org/drawingml/2006/main">
              <a:ext uri="{FF2B5EF4-FFF2-40B4-BE49-F238E27FC236}">
                <a16:creationId xmlns:a16="http://schemas.microsoft.com/office/drawing/2014/main" id="{59682F0D-6358-B00F-89D9-1AC37090297F}"/>
              </a:ext>
            </a:extLst>
          </p:cNvPr>
          <p:cNvSpPr>
            <a:spLocks xmlns:a="http://schemas.openxmlformats.org/drawingml/2006/main" noGrp="1"/>
          </p:cNvSpPr>
          <p:nvPr/>
        </p:nvSpPr>
        <p:spPr>
          <a:xfrm xmlns:a="http://schemas.openxmlformats.org/drawingml/2006/main">
            <a:off x="6972300" y="5359401"/>
            <a:ext cx="4826000" cy="6477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0"/>
              </a:spcBef>
              <a:spcAft>
                <a:spcPts val="600"/>
              </a:spcAft>
              <a:buFontTx/>
              <a:buNone/>
            </a:pPr>
            <a:r>
              <a:rPr sz="1900">
                <a:latin typeface="Helvetica Neue"/>
                <a:ea typeface="Helvetica Neue"/>
                <a:cs typeface="Helvetica Neue"/>
              </a:rPr>
              <a:t>accepted=false</a:t>
            </a:r>
          </a:p>
          <a:p xmlns:a="http://schemas.openxmlformats.org/drawingml/2006/main">
            <a:pPr marL="0" indent="0">
              <a:lnSpc>
                <a:spcPct val="100000"/>
              </a:lnSpc>
              <a:spcBef>
                <a:spcPts val="0"/>
              </a:spcBef>
              <a:spcAft>
                <a:spcPts val="600"/>
              </a:spcAft>
              <a:buFontTx/>
              <a:buNone/>
            </a:pPr>
            <a:r>
              <a:rPr sz="1900">
                <a:latin typeface="Helvetica Neue"/>
                <a:ea typeface="Helvetica Neue"/>
                <a:cs typeface="Helvetica Neue"/>
              </a:rPr>
              <a:t>Дефект не скрывается за завершением.</a:t>
            </a:r>
          </a:p>
        </p:txBody>
      </p:sp>
      <p:sp>
        <p:nvSpPr>
          <p:cNvPr id="21" name="Content Placeholder 10">
            <a:extLst xmlns:a="http://schemas.openxmlformats.org/drawingml/2006/main">
              <a:ext uri="{FF2B5EF4-FFF2-40B4-BE49-F238E27FC236}">
                <a16:creationId xmlns:a16="http://schemas.microsoft.com/office/drawing/2014/main" id="{858787E0-CB4B-BCAC-702A-ECD3032DFC33}"/>
              </a:ext>
            </a:extLst>
          </p:cNvPr>
          <p:cNvSpPr>
            <a:spLocks xmlns:a="http://schemas.openxmlformats.org/drawingml/2006/main" noGrp="1"/>
          </p:cNvSpPr>
          <p:nvPr/>
        </p:nvSpPr>
        <p:spPr>
          <a:xfrm xmlns:a="http://schemas.openxmlformats.org/drawingml/2006/main">
            <a:off x="4851400" y="5359401"/>
            <a:ext cx="1866900" cy="6477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0"/>
              </a:spcBef>
              <a:spcAft>
                <a:spcPts val="600"/>
              </a:spcAft>
              <a:buFontTx/>
              <a:buNone/>
            </a:pPr>
            <a:r>
              <a:rPr sz="2000">
                <a:latin typeface="Helvetica Neue Medium"/>
                <a:ea typeface="Helvetica Neue Medium"/>
                <a:cs typeface="Helvetica Neue Medium"/>
              </a:rPr>
              <a:t>Принятие</a:t>
            </a:r>
          </a:p>
        </p:txBody>
      </p:sp>
      <p:sp>
        <p:nvSpPr>
          <p:cNvPr id="3" name="Google Shape;534;p58">
            <a:extLst xmlns:a="http://schemas.openxmlformats.org/drawingml/2006/main">
              <a:ext uri="{FF2B5EF4-FFF2-40B4-BE49-F238E27FC236}">
                <a16:creationId xmlns:a16="http://schemas.microsoft.com/office/drawing/2014/main" id="{982CDA0F-E73C-7EBB-EE08-FECCE69C5189}"/>
              </a:ext>
            </a:extLst>
          </p:cNvPr>
          <p:cNvSpPr>
            <a:spLocks xmlns:a="http://schemas.openxmlformats.org/drawingml/2006/main" noGrp="1"/>
          </p:cNvSpPr>
          <p:nvPr/>
        </p:nvSpPr>
        <p:spPr>
          <a:xfrm xmlns:a="http://schemas.openxmlformats.org/drawingml/2006/main">
            <a:off x="393700" y="2374901"/>
            <a:ext cx="3568700" cy="3619499"/>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600"/>
              </a:spcAft>
              <a:buFont typeface="Arial"/>
              <a:buNone/>
            </a:pPr>
            <a:r>
              <a:rPr sz="2200">
                <a:latin typeface="Helvetica Neue"/>
                <a:ea typeface="Helvetica Neue"/>
                <a:cs typeface="Helvetica Neue"/>
              </a:rPr>
              <a:t>Результат большого прогона</a:t>
            </a:r>
          </a:p>
          <a:p xmlns:a="http://schemas.openxmlformats.org/drawingml/2006/main">
            <a:pPr marL="0" indent="0">
              <a:lnSpc>
                <a:spcPct val="114000"/>
              </a:lnSpc>
              <a:spcBef>
                <a:spcPts val="0"/>
              </a:spcBef>
              <a:spcAft>
                <a:spcPts val="600"/>
              </a:spcAft>
              <a:buFont typeface="Arial"/>
              <a:buNone/>
            </a:pPr>
            <a:r>
              <a:rPr sz="2200">
                <a:latin typeface="Helvetica Neue"/>
                <a:ea typeface="Helvetica Neue"/>
                <a:cs typeface="Helvetica Neue"/>
              </a:rPr>
              <a:t>Процесс завершён корректно.</a:t>
            </a:r>
          </a:p>
          <a:p xmlns:a="http://schemas.openxmlformats.org/drawingml/2006/main">
            <a:pPr marL="0" indent="0">
              <a:lnSpc>
                <a:spcPct val="114000"/>
              </a:lnSpc>
              <a:spcBef>
                <a:spcPts val="0"/>
              </a:spcBef>
              <a:spcAft>
                <a:spcPts val="600"/>
              </a:spcAft>
              <a:buNone/>
            </a:pPr>
            <a:r>
              <a:rPr sz="2200">
                <a:latin typeface="Helvetica Neue"/>
                <a:ea typeface="Helvetica Neue"/>
                <a:cs typeface="Helvetica Neue"/>
              </a:rPr>
              <a:t>Все согласованные кейсы автоматизированы.</a:t>
            </a:r>
          </a:p>
          <a:p xmlns:a="http://schemas.openxmlformats.org/drawingml/2006/main">
            <a:pPr marL="0" indent="0">
              <a:lnSpc>
                <a:spcPct val="114000"/>
              </a:lnSpc>
              <a:spcBef>
                <a:spcPts val="0"/>
              </a:spcBef>
              <a:spcAft>
                <a:spcPts val="600"/>
              </a:spcAft>
              <a:buNone/>
            </a:pPr>
            <a:r>
              <a:rPr sz="2200">
                <a:latin typeface="Helvetica Neue"/>
                <a:ea typeface="Helvetica Neue"/>
                <a:cs typeface="Helvetica Neue"/>
              </a:rPr>
              <a:t>Один тест выявил дефект.</a:t>
            </a:r>
          </a:p>
          <a:p xmlns:a="http://schemas.openxmlformats.org/drawingml/2006/main">
            <a:pPr marL="0" indent="0">
              <a:lnSpc>
                <a:spcPct val="114000"/>
              </a:lnSpc>
              <a:spcBef>
                <a:spcPts val="0"/>
              </a:spcBef>
              <a:spcAft>
                <a:spcPts val="600"/>
              </a:spcAft>
              <a:buNone/>
            </a:pPr>
            <a:r>
              <a:rPr sz="2200">
                <a:latin typeface="Helvetica Neue"/>
                <a:ea typeface="Helvetica Neue"/>
                <a:cs typeface="Helvetica Neue"/>
              </a:rPr>
              <a:t>Итоговое принятие: нет.</a:t>
            </a:r>
          </a:p>
        </p:txBody>
      </p:sp>
    </p:spTree>
    <p:extLst>
      <p:ext uri="{BB962C8B-B14F-4D97-AF65-F5344CB8AC3E}">
        <p14:creationId xmlns:p14="http://schemas.microsoft.com/office/powerpoint/2010/main" val="67611695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7" name="Footer Placeholder 6">
            <a:extLst xmlns:a="http://schemas.openxmlformats.org/drawingml/2006/main">
              <a:ext uri="{FF2B5EF4-FFF2-40B4-BE49-F238E27FC236}">
                <a16:creationId xmlns:a16="http://schemas.microsoft.com/office/drawing/2014/main" id="{0AD2B367-4B64-657F-20CC-D17632C47D9A}"/>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7F3FA98E-8546-AC84-6BD4-8DF0BEBBB87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fld id="{8574A810-7A8E-054F-9F6B-09E9C694ECF9}" type="slidenum">
              <a:t>13</a:t>
            </a:fld>
            <a:endParaRPr/>
          </a:p>
        </p:txBody>
      </p:sp>
      <p:sp>
        <p:nvSpPr>
          <p:cNvPr id="11" name="Title 10">
            <a:extLst xmlns:a="http://schemas.openxmlformats.org/drawingml/2006/main">
              <a:ext uri="{FF2B5EF4-FFF2-40B4-BE49-F238E27FC236}">
                <a16:creationId xmlns:a16="http://schemas.microsoft.com/office/drawing/2014/main" id="{D802DC3F-F6C4-90E8-847D-BA0C2E4445D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rPr sz="3200"/>
              <a:t>От реализованного процесса к реальному пилоту</a:t>
            </a:r>
          </a:p>
        </p:txBody>
      </p:sp>
      <p:cxnSp>
        <p:nvCxnSpPr>
          <p:cNvPr id="29" name="Google Shape;2259;p159"/>
          <p:cNvCxnSpPr>
            <a:stCxn xmlns:a="http://schemas.openxmlformats.org/drawingml/2006/main" id="3" idx="2"/>
          </p:cNvCxnSpPr>
          <p:nvPr/>
        </p:nvCxnSpPr>
        <p:spPr>
          <a:xfrm xmlns:a="http://schemas.openxmlformats.org/drawingml/2006/main">
            <a:off x="337718" y="5341621"/>
            <a:ext cx="12245400" cy="300"/>
          </a:xfrm>
          <a:prstGeom xmlns:a="http://schemas.openxmlformats.org/drawingml/2006/main" prst="straightConnector1">
            <a:avLst/>
          </a:prstGeom>
          <a:ln xmlns:a="http://schemas.openxmlformats.org/drawingml/2006/main" w="9525" cap="flat">
            <a:solidFill>
              <a:schemeClr val="tx1"/>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96976673-0764-B027-B369-C8C94D395088}"/>
              </a:ext>
            </a:extLst>
          </p:cNvPr>
          <p:cNvSpPr>
            <a:spLocks xmlns:a="http://schemas.openxmlformats.org/drawingml/2006/main" noGrp="1"/>
          </p:cNvSpPr>
          <p:nvPr/>
        </p:nvSpPr>
        <p:spPr>
          <a:xfrm xmlns:a="http://schemas.openxmlformats.org/drawingml/2006/main">
            <a:off x="337718" y="5288071"/>
            <a:ext cx="107100" cy="107100"/>
          </a:xfrm>
          <a:prstGeom xmlns:a="http://schemas.openxmlformats.org/drawingml/2006/main" prst="ellipse">
            <a:avLst/>
          </a:prstGeom>
          <a:solidFill xmlns:a="http://schemas.openxmlformats.org/drawingml/2006/main">
            <a:schemeClr val="tx1"/>
          </a:solidFill>
          <a:ln xmlns:a="http://schemas.openxmlformats.org/drawingml/2006/main">
            <a:solidFill>
              <a:schemeClr val="tx1"/>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80D9DF3C-FD01-7A5C-C521-9B86480D4057}"/>
              </a:ext>
            </a:extLst>
          </p:cNvPr>
          <p:cNvSpPr>
            <a:spLocks xmlns:a="http://schemas.openxmlformats.org/drawingml/2006/main" noGrp="1"/>
          </p:cNvSpPr>
          <p:nvPr/>
        </p:nvSpPr>
        <p:spPr>
          <a:xfrm xmlns:a="http://schemas.openxmlformats.org/drawingml/2006/main">
            <a:off x="4251750" y="5288071"/>
            <a:ext cx="107100" cy="107100"/>
          </a:xfrm>
          <a:prstGeom xmlns:a="http://schemas.openxmlformats.org/drawingml/2006/main" prst="ellipse">
            <a:avLst/>
          </a:prstGeom>
          <a:solidFill xmlns:a="http://schemas.openxmlformats.org/drawingml/2006/main">
            <a:schemeClr val="tx1"/>
          </a:solidFill>
          <a:ln xmlns:a="http://schemas.openxmlformats.org/drawingml/2006/main">
            <a:solidFill>
              <a:schemeClr val="tx1"/>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37DF6577-8813-93FC-E0AA-22F96D3445FC}"/>
              </a:ext>
            </a:extLst>
          </p:cNvPr>
          <p:cNvSpPr>
            <a:spLocks xmlns:a="http://schemas.openxmlformats.org/drawingml/2006/main" noGrp="1"/>
          </p:cNvSpPr>
          <p:nvPr/>
        </p:nvSpPr>
        <p:spPr>
          <a:xfrm xmlns:a="http://schemas.openxmlformats.org/drawingml/2006/main">
            <a:off x="8176050" y="5288071"/>
            <a:ext cx="107100" cy="107100"/>
          </a:xfrm>
          <a:prstGeom xmlns:a="http://schemas.openxmlformats.org/drawingml/2006/main" prst="ellipse">
            <a:avLst/>
          </a:prstGeom>
          <a:solidFill xmlns:a="http://schemas.openxmlformats.org/drawingml/2006/main">
            <a:schemeClr val="tx1"/>
          </a:solidFill>
          <a:ln xmlns:a="http://schemas.openxmlformats.org/drawingml/2006/main">
            <a:solidFill>
              <a:schemeClr val="tx1"/>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20" name="Rounded Rectangle 19">
            <a:extLst xmlns:a="http://schemas.openxmlformats.org/drawingml/2006/main">
              <a:ext uri="{FF2B5EF4-FFF2-40B4-BE49-F238E27FC236}">
                <a16:creationId xmlns:a16="http://schemas.microsoft.com/office/drawing/2014/main" id="{18323F9C-3DB1-9BB3-9462-18B6435C1038}"/>
              </a:ext>
            </a:extLst>
          </p:cNvPr>
          <p:cNvSpPr>
            <a:spLocks xmlns:a="http://schemas.openxmlformats.org/drawingml/2006/main" noGrp="1"/>
          </p:cNvSpPr>
          <p:nvPr/>
        </p:nvSpPr>
        <p:spPr>
          <a:xfrm xmlns:a="http://schemas.openxmlformats.org/drawingml/2006/main">
            <a:off x="393700" y="1401762"/>
            <a:ext cx="3568700" cy="36195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Content Placeholder 8">
            <a:extLst xmlns:a="http://schemas.openxmlformats.org/drawingml/2006/main">
              <a:ext uri="{FF2B5EF4-FFF2-40B4-BE49-F238E27FC236}">
                <a16:creationId xmlns:a16="http://schemas.microsoft.com/office/drawing/2014/main" id="{052F45FF-C9C5-2664-7FF7-CFEC29737802}"/>
              </a:ext>
            </a:extLst>
          </p:cNvPr>
          <p:cNvSpPr>
            <a:spLocks xmlns:a="http://schemas.openxmlformats.org/drawingml/2006/main" noGrp="1"/>
          </p:cNvSpPr>
          <p:nvPr/>
        </p:nvSpPr>
        <p:spPr>
          <a:xfrm xmlns:a="http://schemas.openxmlformats.org/drawingml/2006/main">
            <a:off x="703381" y="1806797"/>
            <a:ext cx="2949339" cy="2566766"/>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2000">
                <a:latin typeface="Helvetica Neue"/>
                <a:ea typeface="Helvetica Neue"/>
                <a:cs typeface="Helvetica Neue"/>
              </a:rPr>
              <a:t>Реализовано</a:t>
            </a:r>
          </a:p>
          <a:p xmlns:a="http://schemas.openxmlformats.org/drawingml/2006/main">
            <a:pPr marL="0" indent="0">
              <a:lnSpc>
                <a:spcPct val="114000"/>
              </a:lnSpc>
              <a:spcBef>
                <a:spcPts val="0"/>
              </a:spcBef>
              <a:spcAft>
                <a:spcPts val="800"/>
              </a:spcAft>
              <a:buNone/>
            </a:pPr>
            <a:r>
              <a:rPr sz="2000">
                <a:latin typeface="Helvetica Neue"/>
                <a:ea typeface="Helvetica Neue"/>
                <a:cs typeface="Helvetica Neue"/>
              </a:rPr>
              <a:t>Шесть скиллов.</a:t>
            </a:r>
            <a:endParaRPr/>
          </a:p>
          <a:p xmlns:a="http://schemas.openxmlformats.org/drawingml/2006/main">
            <a:pPr marL="0" indent="0">
              <a:lnSpc>
                <a:spcPct val="114000"/>
              </a:lnSpc>
              <a:spcBef>
                <a:spcPts val="0"/>
              </a:spcBef>
              <a:spcAft>
                <a:spcPts val="800"/>
              </a:spcAft>
              <a:buNone/>
            </a:pPr>
            <a:r>
              <a:rPr sz="2000">
                <a:latin typeface="Helvetica Neue"/>
                <a:ea typeface="Helvetica Neue"/>
                <a:cs typeface="Helvetica Neue"/>
              </a:rPr>
              <a:t>Два профиля.</a:t>
            </a:r>
            <a:endParaRPr/>
          </a:p>
          <a:p xmlns:a="http://schemas.openxmlformats.org/drawingml/2006/main">
            <a:pPr marL="0" indent="0">
              <a:lnSpc>
                <a:spcPct val="114000"/>
              </a:lnSpc>
              <a:spcBef>
                <a:spcPts val="0"/>
              </a:spcBef>
              <a:spcAft>
                <a:spcPts val="800"/>
              </a:spcAft>
              <a:buNone/>
            </a:pPr>
            <a:r>
              <a:rPr sz="2000">
                <a:latin typeface="Helvetica Neue"/>
                <a:ea typeface="Helvetica Neue"/>
                <a:cs typeface="Helvetica Neue"/>
              </a:rPr>
              <a:t>Контракты и проверка артефактов.</a:t>
            </a:r>
            <a:endParaRPr/>
          </a:p>
          <a:p xmlns:a="http://schemas.openxmlformats.org/drawingml/2006/main">
            <a:pPr marL="0" indent="0">
              <a:lnSpc>
                <a:spcPct val="114000"/>
              </a:lnSpc>
              <a:spcBef>
                <a:spcPts val="0"/>
              </a:spcBef>
              <a:spcAft>
                <a:spcPts val="800"/>
              </a:spcAft>
              <a:buNone/>
            </a:pPr>
            <a:r>
              <a:rPr sz="2000">
                <a:latin typeface="Helvetica Neue"/>
                <a:ea typeface="Helvetica Neue"/>
                <a:cs typeface="Helvetica Neue"/>
              </a:rPr>
              <a:t>Адаптеры исполнения.</a:t>
            </a:r>
            <a:endParaRPr/>
          </a:p>
        </p:txBody>
      </p:sp>
      <p:sp>
        <p:nvSpPr>
          <p:cNvPr id="22" name="Rounded Rectangle 21">
            <a:extLst xmlns:a="http://schemas.openxmlformats.org/drawingml/2006/main">
              <a:ext uri="{FF2B5EF4-FFF2-40B4-BE49-F238E27FC236}">
                <a16:creationId xmlns:a16="http://schemas.microsoft.com/office/drawing/2014/main" id="{C3E867C1-C7DA-85C7-C8DC-55F132F2923B}"/>
              </a:ext>
            </a:extLst>
          </p:cNvPr>
          <p:cNvSpPr>
            <a:spLocks xmlns:a="http://schemas.openxmlformats.org/drawingml/2006/main" noGrp="1"/>
          </p:cNvSpPr>
          <p:nvPr/>
        </p:nvSpPr>
        <p:spPr>
          <a:xfrm xmlns:a="http://schemas.openxmlformats.org/drawingml/2006/main">
            <a:off x="4308475" y="1401762"/>
            <a:ext cx="3568700" cy="36195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Content Placeholder 8">
            <a:extLst xmlns:a="http://schemas.openxmlformats.org/drawingml/2006/main">
              <a:ext uri="{FF2B5EF4-FFF2-40B4-BE49-F238E27FC236}">
                <a16:creationId xmlns:a16="http://schemas.microsoft.com/office/drawing/2014/main" id="{5C40FE43-DE8E-7C68-A6D4-F8D8AECE747F}"/>
              </a:ext>
            </a:extLst>
          </p:cNvPr>
          <p:cNvSpPr>
            <a:spLocks xmlns:a="http://schemas.openxmlformats.org/drawingml/2006/main" noGrp="1"/>
          </p:cNvSpPr>
          <p:nvPr/>
        </p:nvSpPr>
        <p:spPr>
          <a:xfrm xmlns:a="http://schemas.openxmlformats.org/drawingml/2006/main">
            <a:off x="4618156" y="1806797"/>
            <a:ext cx="2949339" cy="2566766"/>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2000">
                <a:latin typeface="Helvetica Neue"/>
                <a:ea typeface="Helvetica Neue"/>
                <a:cs typeface="Helvetica Neue"/>
              </a:rPr>
              <a:t>Проверено в пилоте</a:t>
            </a:r>
          </a:p>
          <a:p xmlns:a="http://schemas.openxmlformats.org/drawingml/2006/main">
            <a:pPr marL="0" indent="0">
              <a:lnSpc>
                <a:spcPct val="114000"/>
              </a:lnSpc>
              <a:spcBef>
                <a:spcPts val="0"/>
              </a:spcBef>
              <a:spcAft>
                <a:spcPts val="800"/>
              </a:spcAft>
              <a:buNone/>
            </a:pPr>
            <a:r>
              <a:rPr sz="2000">
                <a:latin typeface="Helvetica Neue"/>
                <a:ea typeface="Helvetica Neue"/>
                <a:cs typeface="Helvetica Neue"/>
              </a:rPr>
              <a:t>Большая Java-фича.</a:t>
            </a:r>
            <a:endParaRPr/>
          </a:p>
          <a:p xmlns:a="http://schemas.openxmlformats.org/drawingml/2006/main">
            <a:pPr marL="0" indent="0">
              <a:lnSpc>
                <a:spcPct val="114000"/>
              </a:lnSpc>
              <a:spcBef>
                <a:spcPts val="0"/>
              </a:spcBef>
              <a:spcAft>
                <a:spcPts val="800"/>
              </a:spcAft>
              <a:buNone/>
            </a:pPr>
            <a:r>
              <a:rPr sz="2000">
                <a:latin typeface="Helvetica Neue"/>
                <a:ea typeface="Helvetica Neue"/>
                <a:cs typeface="Helvetica Neue"/>
              </a:rPr>
              <a:t>64 тестовых метода.</a:t>
            </a:r>
            <a:endParaRPr/>
          </a:p>
          <a:p xmlns:a="http://schemas.openxmlformats.org/drawingml/2006/main">
            <a:pPr marL="0" indent="0">
              <a:lnSpc>
                <a:spcPct val="114000"/>
              </a:lnSpc>
              <a:spcBef>
                <a:spcPts val="0"/>
              </a:spcBef>
              <a:spcAft>
                <a:spcPts val="800"/>
              </a:spcAft>
              <a:buNone/>
            </a:pPr>
            <a:r>
              <a:rPr sz="2000">
                <a:latin typeface="Helvetica Neue"/>
                <a:ea typeface="Helvetica Neue"/>
                <a:cs typeface="Helvetica Neue"/>
              </a:rPr>
              <a:t>Реальный Maven-запуск.</a:t>
            </a:r>
            <a:endParaRPr/>
          </a:p>
          <a:p xmlns:a="http://schemas.openxmlformats.org/drawingml/2006/main">
            <a:pPr marL="0" indent="0">
              <a:lnSpc>
                <a:spcPct val="114000"/>
              </a:lnSpc>
              <a:spcBef>
                <a:spcPts val="0"/>
              </a:spcBef>
              <a:spcAft>
                <a:spcPts val="800"/>
              </a:spcAft>
              <a:buNone/>
            </a:pPr>
            <a:r>
              <a:rPr sz="2000">
                <a:latin typeface="Helvetica Neue"/>
                <a:ea typeface="Helvetica Neue"/>
                <a:cs typeface="Helvetica Neue"/>
              </a:rPr>
              <a:t>Обнаруженное нарушение V05.</a:t>
            </a:r>
            <a:endParaRPr/>
          </a:p>
        </p:txBody>
      </p:sp>
      <p:sp>
        <p:nvSpPr>
          <p:cNvPr id="24" name="Rounded Rectangle 23">
            <a:extLst xmlns:a="http://schemas.openxmlformats.org/drawingml/2006/main">
              <a:ext uri="{FF2B5EF4-FFF2-40B4-BE49-F238E27FC236}">
                <a16:creationId xmlns:a16="http://schemas.microsoft.com/office/drawing/2014/main" id="{EA9CAD1D-ACB2-1454-6255-0DA0ECB85F88}"/>
              </a:ext>
            </a:extLst>
          </p:cNvPr>
          <p:cNvSpPr>
            <a:spLocks xmlns:a="http://schemas.openxmlformats.org/drawingml/2006/main" noGrp="1"/>
          </p:cNvSpPr>
          <p:nvPr/>
        </p:nvSpPr>
        <p:spPr>
          <a:xfrm xmlns:a="http://schemas.openxmlformats.org/drawingml/2006/main">
            <a:off x="8237538" y="1401762"/>
            <a:ext cx="3568700" cy="36195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Content Placeholder 8">
            <a:extLst xmlns:a="http://schemas.openxmlformats.org/drawingml/2006/main">
              <a:ext uri="{FF2B5EF4-FFF2-40B4-BE49-F238E27FC236}">
                <a16:creationId xmlns:a16="http://schemas.microsoft.com/office/drawing/2014/main" id="{AECA4705-7C1E-A1DB-1156-729DDE0C588F}"/>
              </a:ext>
            </a:extLst>
          </p:cNvPr>
          <p:cNvSpPr>
            <a:spLocks xmlns:a="http://schemas.openxmlformats.org/drawingml/2006/main" noGrp="1"/>
          </p:cNvSpPr>
          <p:nvPr/>
        </p:nvSpPr>
        <p:spPr>
          <a:xfrm xmlns:a="http://schemas.openxmlformats.org/drawingml/2006/main">
            <a:off x="8547219" y="1806797"/>
            <a:ext cx="2949339" cy="2566766"/>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2000">
                <a:latin typeface="Helvetica Neue"/>
                <a:ea typeface="Helvetica Neue"/>
                <a:cs typeface="Helvetica Neue"/>
              </a:rPr>
              <a:t>Уточнено после</a:t>
            </a:r>
          </a:p>
          <a:p xmlns:a="http://schemas.openxmlformats.org/drawingml/2006/main">
            <a:pPr marL="0" indent="0">
              <a:lnSpc>
                <a:spcPct val="114000"/>
              </a:lnSpc>
              <a:spcBef>
                <a:spcPts val="0"/>
              </a:spcBef>
              <a:spcAft>
                <a:spcPts val="800"/>
              </a:spcAft>
              <a:buNone/>
            </a:pPr>
            <a:r>
              <a:rPr sz="2000">
                <a:latin typeface="Helvetica Neue"/>
                <a:ea typeface="Helvetica Neue"/>
                <a:cs typeface="Helvetica Neue"/>
              </a:rPr>
              <a:t>Поиск Java-методов.</a:t>
            </a:r>
            <a:endParaRPr/>
          </a:p>
          <a:p xmlns:a="http://schemas.openxmlformats.org/drawingml/2006/main">
            <a:pPr marL="0" indent="0">
              <a:lnSpc>
                <a:spcPct val="114000"/>
              </a:lnSpc>
              <a:spcBef>
                <a:spcPts val="0"/>
              </a:spcBef>
              <a:spcAft>
                <a:spcPts val="800"/>
              </a:spcAft>
              <a:buNone/>
            </a:pPr>
            <a:r>
              <a:rPr sz="2000">
                <a:latin typeface="Helvetica Neue"/>
                <a:ea typeface="Helvetica Neue"/>
                <a:cs typeface="Helvetica Neue"/>
              </a:rPr>
              <a:t>Инструкции по читаемости.</a:t>
            </a:r>
            <a:endParaRPr/>
          </a:p>
          <a:p xmlns:a="http://schemas.openxmlformats.org/drawingml/2006/main">
            <a:pPr marL="0" indent="0">
              <a:lnSpc>
                <a:spcPct val="114000"/>
              </a:lnSpc>
              <a:spcBef>
                <a:spcPts val="0"/>
              </a:spcBef>
              <a:spcAft>
                <a:spcPts val="800"/>
              </a:spcAft>
              <a:buNone/>
            </a:pPr>
            <a:r>
              <a:rPr sz="2000">
                <a:latin typeface="Helvetica Neue"/>
                <a:ea typeface="Helvetica Neue"/>
                <a:cs typeface="Helvetica Neue"/>
              </a:rPr>
              <a:t>Выборка из пяти кейсов.</a:t>
            </a:r>
            <a:endParaRPr/>
          </a:p>
          <a:p xmlns:a="http://schemas.openxmlformats.org/drawingml/2006/main">
            <a:pPr marL="0" indent="0">
              <a:lnSpc>
                <a:spcPct val="114000"/>
              </a:lnSpc>
              <a:spcBef>
                <a:spcPts val="0"/>
              </a:spcBef>
              <a:spcAft>
                <a:spcPts val="800"/>
              </a:spcAft>
              <a:buNone/>
            </a:pPr>
            <a:r>
              <a:rPr sz="2000">
                <a:latin typeface="Helvetica Neue"/>
                <a:ea typeface="Helvetica Neue"/>
                <a:cs typeface="Helvetica Neue"/>
              </a:rPr>
              <a:t>Полный повтор впереди.</a:t>
            </a:r>
            <a:endParaRPr/>
          </a:p>
        </p:txBody>
      </p:sp>
      <p:sp>
        <p:nvSpPr>
          <p:cNvPr id="8" name="Text Placeholder 16">
            <a:extLst xmlns:a="http://schemas.openxmlformats.org/drawingml/2006/main">
              <a:ext uri="{FF2B5EF4-FFF2-40B4-BE49-F238E27FC236}">
                <a16:creationId xmlns:a16="http://schemas.microsoft.com/office/drawing/2014/main" id="{013F05BF-0D59-AD7B-B623-A2626D8E3303}"/>
              </a:ext>
            </a:extLst>
          </p:cNvPr>
          <p:cNvSpPr>
            <a:spLocks xmlns:a="http://schemas.openxmlformats.org/drawingml/2006/main" noGrp="1"/>
          </p:cNvSpPr>
          <p:nvPr/>
        </p:nvSpPr>
        <p:spPr>
          <a:xfrm xmlns:a="http://schemas.openxmlformats.org/drawingml/2006/main">
            <a:off x="4251750" y="5602406"/>
            <a:ext cx="2595934" cy="391993"/>
          </a:xfrm>
          <a:prstGeom xmlns:a="http://schemas.openxmlformats.org/drawingml/2006/main" prst="rect">
            <a:avLst/>
          </a:prstGeom>
        </p:spPr>
        <p:txBody>
          <a:bodyPr xmlns:a="http://schemas.openxmlformats.org/drawingml/2006/main">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Наблюдаемый результат</a:t>
            </a:r>
            <a:endParaRPr sz="1600">
              <a:latin typeface="Helvetica Neue"/>
              <a:ea typeface="Helvetica Neue"/>
              <a:cs typeface="Helvetica Neue"/>
            </a:endParaRPr>
          </a:p>
        </p:txBody>
      </p:sp>
      <p:sp>
        <p:nvSpPr>
          <p:cNvPr id="12" name="Text Placeholder 16">
            <a:extLst xmlns:a="http://schemas.openxmlformats.org/drawingml/2006/main">
              <a:ext uri="{FF2B5EF4-FFF2-40B4-BE49-F238E27FC236}">
                <a16:creationId xmlns:a16="http://schemas.microsoft.com/office/drawing/2014/main" id="{BD278DD6-3486-8F28-C119-6A1866BD8D2F}"/>
              </a:ext>
            </a:extLst>
          </p:cNvPr>
          <p:cNvSpPr>
            <a:spLocks xmlns:a="http://schemas.openxmlformats.org/drawingml/2006/main" noGrp="1"/>
          </p:cNvSpPr>
          <p:nvPr/>
        </p:nvSpPr>
        <p:spPr>
          <a:xfrm xmlns:a="http://schemas.openxmlformats.org/drawingml/2006/main">
            <a:off x="390950" y="5602406"/>
            <a:ext cx="2595934" cy="391993"/>
          </a:xfrm>
          <a:prstGeom xmlns:a="http://schemas.openxmlformats.org/drawingml/2006/main" prst="rect">
            <a:avLst/>
          </a:prstGeom>
        </p:spPr>
        <p:txBody>
          <a:bodyPr xmlns:a="http://schemas.openxmlformats.org/drawingml/2006/main">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Реализация</a:t>
            </a:r>
            <a:endParaRPr sz="1600">
              <a:latin typeface="Helvetica Neue"/>
              <a:ea typeface="Helvetica Neue"/>
              <a:cs typeface="Helvetica Neue"/>
            </a:endParaRPr>
          </a:p>
        </p:txBody>
      </p:sp>
      <p:sp>
        <p:nvSpPr>
          <p:cNvPr id="13" name="Text Placeholder 16">
            <a:extLst xmlns:a="http://schemas.openxmlformats.org/drawingml/2006/main">
              <a:ext uri="{FF2B5EF4-FFF2-40B4-BE49-F238E27FC236}">
                <a16:creationId xmlns:a16="http://schemas.microsoft.com/office/drawing/2014/main" id="{DAB1D750-F0E1-A3C4-989E-260B04C4A85B}"/>
              </a:ext>
            </a:extLst>
          </p:cNvPr>
          <p:cNvSpPr>
            <a:spLocks xmlns:a="http://schemas.openxmlformats.org/drawingml/2006/main" noGrp="1"/>
          </p:cNvSpPr>
          <p:nvPr/>
        </p:nvSpPr>
        <p:spPr>
          <a:xfrm xmlns:a="http://schemas.openxmlformats.org/drawingml/2006/main">
            <a:off x="8225439" y="5602406"/>
            <a:ext cx="2595934" cy="391993"/>
          </a:xfrm>
          <a:prstGeom xmlns:a="http://schemas.openxmlformats.org/drawingml/2006/main" prst="rect">
            <a:avLst/>
          </a:prstGeom>
        </p:spPr>
        <p:txBody>
          <a:bodyPr xmlns:a="http://schemas.openxmlformats.org/drawingml/2006/main">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Точечные улучшения</a:t>
            </a:r>
            <a:endParaRPr sz="1600">
              <a:latin typeface="Helvetica Neue"/>
              <a:ea typeface="Helvetica Neue"/>
              <a:cs typeface="Helvetica Neue"/>
            </a:endParaRPr>
          </a:p>
        </p:txBody>
      </p:sp>
    </p:spTree>
    <p:extLst>
      <p:ext uri="{BB962C8B-B14F-4D97-AF65-F5344CB8AC3E}">
        <p14:creationId xmlns:p14="http://schemas.microsoft.com/office/powerpoint/2010/main" val="167841331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7" name="Footer Placeholder 6">
            <a:extLst xmlns:a="http://schemas.openxmlformats.org/drawingml/2006/main">
              <a:ext uri="{FF2B5EF4-FFF2-40B4-BE49-F238E27FC236}">
                <a16:creationId xmlns:a16="http://schemas.microsoft.com/office/drawing/2014/main" id="{33F6F69E-B773-8572-FA7F-ECBC69775926}"/>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A671F7CA-962E-B7D5-11E1-86144832BC77}"/>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8574A810-7A8E-054F-9F6B-09E9C694ECF9}" type="slidenum">
              <a:t>14</a:t>
            </a:fld>
            <a:endParaRPr/>
          </a:p>
        </p:txBody>
      </p:sp>
      <p:sp>
        <p:nvSpPr>
          <p:cNvPr id="11" name="Title 10">
            <a:extLst xmlns:a="http://schemas.openxmlformats.org/drawingml/2006/main">
              <a:ext uri="{FF2B5EF4-FFF2-40B4-BE49-F238E27FC236}">
                <a16:creationId xmlns:a16="http://schemas.microsoft.com/office/drawing/2014/main" id="{EE0017B1-61AD-F17E-4365-4C536650269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3200"/>
              <a:t>Пилот работает, квалификация ещё впереди</a:t>
            </a:r>
          </a:p>
        </p:txBody>
      </p:sp>
      <p:sp>
        <p:nvSpPr>
          <p:cNvPr id="28" name="Content Placeholder 15">
            <a:extLst xmlns:a="http://schemas.openxmlformats.org/drawingml/2006/main">
              <a:ext uri="{FF2B5EF4-FFF2-40B4-BE49-F238E27FC236}">
                <a16:creationId xmlns:a16="http://schemas.microsoft.com/office/drawing/2014/main" id="{8EA52868-2F57-DCC5-19D5-764181B94516}"/>
              </a:ext>
            </a:extLst>
          </p:cNvPr>
          <p:cNvSpPr>
            <a:spLocks xmlns:a="http://schemas.openxmlformats.org/drawingml/2006/main" noGrp="1"/>
          </p:cNvSpPr>
          <p:nvPr/>
        </p:nvSpPr>
        <p:spPr>
          <a:xfrm xmlns:a="http://schemas.openxmlformats.org/drawingml/2006/main">
            <a:off x="393700" y="2208087"/>
            <a:ext cx="2595934" cy="141564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2100">
                <a:latin typeface="Helvetica Neue"/>
                <a:ea typeface="Helvetica Neue"/>
                <a:cs typeface="Helvetica Neue"/>
              </a:rPr>
              <a:t>Повторяемость</a:t>
            </a:r>
          </a:p>
          <a:p xmlns:a="http://schemas.openxmlformats.org/drawingml/2006/main">
            <a:pPr marL="0" indent="0">
              <a:lnSpc>
                <a:spcPct val="114000"/>
              </a:lnSpc>
              <a:spcBef>
                <a:spcPts val="0"/>
              </a:spcBef>
              <a:spcAft>
                <a:spcPts val="800"/>
              </a:spcAft>
              <a:buNone/>
            </a:pPr>
            <a:r>
              <a:rPr sz="2100">
                <a:latin typeface="Helvetica Neue"/>
                <a:ea typeface="Helvetica Neue"/>
                <a:cs typeface="Helvetica Neue"/>
              </a:rPr>
              <a:t>Повторные прогоны на репрезентативных задачах.</a:t>
            </a:r>
          </a:p>
        </p:txBody>
      </p:sp>
      <p:sp>
        <p:nvSpPr>
          <p:cNvPr id="29" name="Text Placeholder 16">
            <a:extLst xmlns:a="http://schemas.openxmlformats.org/drawingml/2006/main">
              <a:ext uri="{FF2B5EF4-FFF2-40B4-BE49-F238E27FC236}">
                <a16:creationId xmlns:a16="http://schemas.microsoft.com/office/drawing/2014/main" id="{751AE029-57A0-A186-E791-1A4462A1CBCB}"/>
              </a:ext>
            </a:extLst>
          </p:cNvPr>
          <p:cNvSpPr>
            <a:spLocks xmlns:a="http://schemas.openxmlformats.org/drawingml/2006/main" noGrp="1"/>
          </p:cNvSpPr>
          <p:nvPr/>
        </p:nvSpPr>
        <p:spPr>
          <a:xfrm xmlns:a="http://schemas.openxmlformats.org/drawingml/2006/main">
            <a:off x="3334966" y="2208087"/>
            <a:ext cx="2595934" cy="141564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8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8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8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8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2100">
                <a:latin typeface="Helvetica Neue"/>
                <a:ea typeface="Helvetica Neue"/>
                <a:cs typeface="Helvetica Neue"/>
              </a:rPr>
              <a:t>Переносимость</a:t>
            </a:r>
          </a:p>
          <a:p xmlns:a="http://schemas.openxmlformats.org/drawingml/2006/main">
            <a:pPr marL="0" indent="0">
              <a:lnSpc>
                <a:spcPct val="114000"/>
              </a:lnSpc>
              <a:spcBef>
                <a:spcPts val="0"/>
              </a:spcBef>
              <a:spcAft>
                <a:spcPts val="800"/>
              </a:spcAft>
              <a:buNone/>
            </a:pPr>
            <a:r>
              <a:rPr sz="2100">
                <a:latin typeface="Helvetica Neue"/>
                <a:ea typeface="Helvetica Neue"/>
                <a:cs typeface="Helvetica Neue"/>
              </a:rPr>
              <a:t>Проверка выбранных CLI, платформ и окружений.</a:t>
            </a:r>
          </a:p>
        </p:txBody>
      </p:sp>
      <p:sp>
        <p:nvSpPr>
          <p:cNvPr id="30" name="Content Placeholder 17">
            <a:extLst xmlns:a="http://schemas.openxmlformats.org/drawingml/2006/main">
              <a:ext uri="{FF2B5EF4-FFF2-40B4-BE49-F238E27FC236}">
                <a16:creationId xmlns:a16="http://schemas.microsoft.com/office/drawing/2014/main" id="{84CDE6A4-554E-3362-3E09-93D47FDCD65A}"/>
              </a:ext>
            </a:extLst>
          </p:cNvPr>
          <p:cNvSpPr>
            <a:spLocks xmlns:a="http://schemas.openxmlformats.org/drawingml/2006/main" noGrp="1"/>
          </p:cNvSpPr>
          <p:nvPr/>
        </p:nvSpPr>
        <p:spPr>
          <a:xfrm xmlns:a="http://schemas.openxmlformats.org/drawingml/2006/main">
            <a:off x="6264413" y="2208087"/>
            <a:ext cx="2595934" cy="141564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2100">
                <a:latin typeface="Helvetica Neue"/>
                <a:ea typeface="Helvetica Neue"/>
                <a:cs typeface="Helvetica Neue"/>
              </a:rPr>
              <a:t>Читаемость</a:t>
            </a:r>
          </a:p>
          <a:p xmlns:a="http://schemas.openxmlformats.org/drawingml/2006/main">
            <a:pPr marL="0" indent="0">
              <a:lnSpc>
                <a:spcPct val="114000"/>
              </a:lnSpc>
              <a:spcBef>
                <a:spcPts val="0"/>
              </a:spcBef>
              <a:spcAft>
                <a:spcPts val="800"/>
              </a:spcAft>
              <a:buNone/>
            </a:pPr>
            <a:r>
              <a:rPr sz="2100">
                <a:latin typeface="Helvetica Neue"/>
                <a:ea typeface="Helvetica Neue"/>
                <a:cs typeface="Helvetica Neue"/>
              </a:rPr>
              <a:t>Оценка кейсов человеком без знания внутренностей проекта.</a:t>
            </a:r>
            <a:endParaRPr>
              <a:latin typeface="Helvetica Neue"/>
              <a:ea typeface="Helvetica Neue"/>
              <a:cs typeface="Helvetica Neue"/>
            </a:endParaRPr>
          </a:p>
        </p:txBody>
      </p:sp>
      <p:sp>
        <p:nvSpPr>
          <p:cNvPr id="31" name="Text Placeholder 18">
            <a:extLst xmlns:a="http://schemas.openxmlformats.org/drawingml/2006/main">
              <a:ext uri="{FF2B5EF4-FFF2-40B4-BE49-F238E27FC236}">
                <a16:creationId xmlns:a16="http://schemas.microsoft.com/office/drawing/2014/main" id="{E0575F69-0E47-58CD-4D15-A728423F7253}"/>
              </a:ext>
            </a:extLst>
          </p:cNvPr>
          <p:cNvSpPr>
            <a:spLocks xmlns:a="http://schemas.openxmlformats.org/drawingml/2006/main" noGrp="1"/>
          </p:cNvSpPr>
          <p:nvPr/>
        </p:nvSpPr>
        <p:spPr>
          <a:xfrm xmlns:a="http://schemas.openxmlformats.org/drawingml/2006/main">
            <a:off x="9205679" y="2208087"/>
            <a:ext cx="2595934" cy="141564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8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8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8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8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2100">
                <a:latin typeface="Helvetica Neue"/>
                <a:ea typeface="Helvetica Neue"/>
                <a:cs typeface="Helvetica Neue"/>
              </a:rPr>
              <a:t>Практическая цена</a:t>
            </a:r>
          </a:p>
          <a:p xmlns:a="http://schemas.openxmlformats.org/drawingml/2006/main">
            <a:pPr marL="0" indent="0">
              <a:lnSpc>
                <a:spcPct val="114000"/>
              </a:lnSpc>
              <a:spcBef>
                <a:spcPts val="0"/>
              </a:spcBef>
              <a:spcAft>
                <a:spcPts val="800"/>
              </a:spcAft>
              <a:buNone/>
            </a:pPr>
            <a:r>
              <a:rPr sz="2100">
                <a:latin typeface="Helvetica Neue"/>
                <a:ea typeface="Helvetica Neue"/>
                <a:cs typeface="Helvetica Neue"/>
              </a:rPr>
              <a:t>Время, стоимость и объём ручных исправлений.</a:t>
            </a:r>
            <a:endParaRPr sz="1600">
              <a:latin typeface="Helvetica Neue"/>
              <a:ea typeface="Helvetica Neue"/>
              <a:cs typeface="Helvetica Neue"/>
            </a:endParaRPr>
          </a:p>
        </p:txBody>
      </p:sp>
    </p:spTree>
    <p:extLst>
      <p:ext uri="{BB962C8B-B14F-4D97-AF65-F5344CB8AC3E}">
        <p14:creationId xmlns:p14="http://schemas.microsoft.com/office/powerpoint/2010/main" val="34307893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59A8DA10-BC74-F432-B483-CF813D4319AD}"/>
              </a:ext>
            </a:extLst>
          </p:cNvPr>
          <p:cNvSpPr>
            <a:spLocks xmlns:a="http://schemas.openxmlformats.org/drawingml/2006/main" noGrp="1"/>
          </p:cNvSpPr>
          <p:nvPr>
            <p:ph type="ctrTitle" idx="0"/>
          </p:nvPr>
        </p:nvSpPr>
        <p:spPr>
          <a:xfrm xmlns:a="http://schemas.openxmlformats.org/drawingml/2006/main">
            <a:off x="393700" y="3712696"/>
            <a:ext cx="9448800" cy="2491490"/>
          </a:xfrm>
        </p:spPr>
        <p:txBody>
          <a:bodyPr xmlns:a="http://schemas.openxmlformats.org/drawingml/2006/main">
            <a:noAutofit/>
          </a:bodyPr>
          <a:lstStyle xmlns:a="http://schemas.openxmlformats.org/drawingml/2006/main"/>
          <a:p xmlns:a="http://schemas.openxmlformats.org/drawingml/2006/main">
            <a:r>
              <a:rPr sz="4700"/>
              <a:t>Следующий шаг:</a:t>
            </a:r>
          </a:p>
          <a:p xmlns:a="http://schemas.openxmlformats.org/drawingml/2006/main">
            <a:r>
              <a:rPr sz="4700"/>
              <a:t>одна фича команды,</a:t>
            </a:r>
          </a:p>
          <a:p xmlns:a="http://schemas.openxmlformats.org/drawingml/2006/main">
            <a:r>
              <a:rPr sz="4700"/>
              <a:t>проверяемый результат</a:t>
            </a:r>
          </a:p>
        </p:txBody>
      </p:sp>
      <p:sp>
        <p:nvSpPr>
          <p:cNvPr id="6" name="Subtitle 4">
            <a:extLst xmlns:a="http://schemas.openxmlformats.org/drawingml/2006/main">
              <a:ext uri="{FF2B5EF4-FFF2-40B4-BE49-F238E27FC236}">
                <a16:creationId xmlns:a16="http://schemas.microsoft.com/office/drawing/2014/main" id="{47DF5305-453D-AB88-8DE6-9846FEB1B651}"/>
              </a:ext>
            </a:extLst>
          </p:cNvPr>
          <p:cNvSpPr>
            <a:spLocks xmlns:a="http://schemas.openxmlformats.org/drawingml/2006/main" noGrp="1"/>
          </p:cNvSpPr>
          <p:nvPr/>
        </p:nvSpPr>
        <p:spPr>
          <a:xfrm xmlns:a="http://schemas.openxmlformats.org/drawingml/2006/main">
            <a:off x="393699" y="392241"/>
            <a:ext cx="6157826"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1700"/>
              <a:t>ПРАКТИЧЕСКИЙ ПИЛОТ</a:t>
            </a:r>
          </a:p>
        </p:txBody>
      </p:sp>
      <p:sp>
        <p:nvSpPr>
          <p:cNvPr id="8" name="Subtitle 4">
            <a:extLst xmlns:a="http://schemas.openxmlformats.org/drawingml/2006/main">
              <a:ext uri="{FF2B5EF4-FFF2-40B4-BE49-F238E27FC236}">
                <a16:creationId xmlns:a16="http://schemas.microsoft.com/office/drawing/2014/main" id="{4AE41470-6E36-D08D-AC35-CBDFACEF3DBC}"/>
              </a:ext>
            </a:extLst>
          </p:cNvPr>
          <p:cNvSpPr>
            <a:spLocks xmlns:a="http://schemas.openxmlformats.org/drawingml/2006/main" noGrp="1"/>
          </p:cNvSpPr>
          <p:nvPr/>
        </p:nvSpPr>
        <p:spPr>
          <a:xfrm xmlns:a="http://schemas.openxmlformats.org/drawingml/2006/main">
            <a:off x="7886700" y="392241"/>
            <a:ext cx="39116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r">
              <a:buNone/>
            </a:pPr>
            <a:r>
              <a:rPr sz="1700"/>
              <a:t>Критерии согласуем до запуска</a:t>
            </a:r>
          </a:p>
        </p:txBody>
      </p:sp>
    </p:spTree>
    <p:extLst>
      <p:ext uri="{BB962C8B-B14F-4D97-AF65-F5344CB8AC3E}">
        <p14:creationId xmlns:p14="http://schemas.microsoft.com/office/powerpoint/2010/main" val="350773716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979AC8B6-148F-970D-D8DE-AD2E0AB19BC8}"/>
              </a:ext>
            </a:extLst>
          </p:cNvPr>
          <p:cNvSpPr>
            <a:spLocks xmlns:a="http://schemas.openxmlformats.org/drawingml/2006/main" noGrp="1"/>
          </p:cNvSpPr>
          <p:nvPr>
            <p:ph type="ctrTitle" idx="0"/>
          </p:nvPr>
        </p:nvSpPr>
        <p:spPr>
          <a:xfrm xmlns:a="http://schemas.openxmlformats.org/drawingml/2006/main">
            <a:off x="393700" y="1738755"/>
            <a:ext cx="9448800" cy="2491490"/>
          </a:xfrm>
        </p:spPr>
        <p:txBody>
          <a:bodyPr xmlns:a="http://schemas.openxmlformats.org/drawingml/2006/main">
            <a:noAutofit/>
          </a:bodyPr>
          <a:lstStyle xmlns:a="http://schemas.openxmlformats.org/drawingml/2006/main"/>
          <a:p xmlns:a="http://schemas.openxmlformats.org/drawingml/2006/main">
            <a:r>
              <a:rPr sz="4800"/>
              <a:t>Что проверим</a:t>
            </a:r>
          </a:p>
          <a:p xmlns:a="http://schemas.openxmlformats.org/drawingml/2006/main">
            <a:r>
              <a:rPr sz="4800"/>
              <a:t>в нашем проекте?</a:t>
            </a:r>
          </a:p>
        </p:txBody>
      </p:sp>
      <p:sp>
        <p:nvSpPr>
          <p:cNvPr id="5" name="Subtitle 4">
            <a:extLst xmlns:a="http://schemas.openxmlformats.org/drawingml/2006/main">
              <a:ext uri="{FF2B5EF4-FFF2-40B4-BE49-F238E27FC236}">
                <a16:creationId xmlns:a16="http://schemas.microsoft.com/office/drawing/2014/main" id="{A8E1F2E1-786A-48AE-5E52-007228284270}"/>
              </a:ext>
            </a:extLst>
          </p:cNvPr>
          <p:cNvSpPr>
            <a:spLocks xmlns:a="http://schemas.openxmlformats.org/drawingml/2006/main" noGrp="1"/>
          </p:cNvSpPr>
          <p:nvPr>
            <p:ph type="subTitle" idx="1"/>
          </p:nvPr>
        </p:nvSpPr>
        <p:spPr>
          <a:xfrm xmlns:a="http://schemas.openxmlformats.org/drawingml/2006/main">
            <a:off x="393700" y="4973320"/>
            <a:ext cx="3568700" cy="1080246"/>
          </a:xfrm>
        </p:spPr>
        <p:txBody>
          <a:bodyPr xmlns:a="http://schemas.openxmlformats.org/drawingml/2006/main">
            <a:noAutofit/>
          </a:bodyPr>
          <a:lstStyle xmlns:a="http://schemas.openxmlformats.org/drawingml/2006/main"/>
          <a:p xmlns:a="http://schemas.openxmlformats.org/drawingml/2006/main">
            <a:r>
              <a:rPr sz="2300"/>
              <a:t>Фича для пилота</a:t>
            </a:r>
          </a:p>
          <a:p xmlns:a="http://schemas.openxmlformats.org/drawingml/2006/main">
            <a:r>
              <a:rPr sz="2300"/>
              <a:t>Критерии успеха</a:t>
            </a:r>
          </a:p>
          <a:p xmlns:a="http://schemas.openxmlformats.org/drawingml/2006/main">
            <a:r>
              <a:rPr sz="2300"/>
              <a:t>Ревьюер от команды</a:t>
            </a:r>
          </a:p>
        </p:txBody>
      </p:sp>
      <p:sp>
        <p:nvSpPr>
          <p:cNvPr id="6" name="Subtitle 4">
            <a:extLst xmlns:a="http://schemas.openxmlformats.org/drawingml/2006/main">
              <a:ext uri="{FF2B5EF4-FFF2-40B4-BE49-F238E27FC236}">
                <a16:creationId xmlns:a16="http://schemas.microsoft.com/office/drawing/2014/main" id="{A94AB779-D110-4562-575A-800C929A77DB}"/>
              </a:ext>
            </a:extLst>
          </p:cNvPr>
          <p:cNvSpPr>
            <a:spLocks xmlns:a="http://schemas.openxmlformats.org/drawingml/2006/main" noGrp="1"/>
          </p:cNvSpPr>
          <p:nvPr/>
        </p:nvSpPr>
        <p:spPr>
          <a:xfrm xmlns:a="http://schemas.openxmlformats.org/drawingml/2006/main">
            <a:off x="393700" y="392241"/>
            <a:ext cx="16129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1700"/>
              <a:t>ОБСУЖДЕНИЕ</a:t>
            </a:r>
          </a:p>
        </p:txBody>
      </p:sp>
    </p:spTree>
    <p:extLst>
      <p:ext uri="{BB962C8B-B14F-4D97-AF65-F5344CB8AC3E}">
        <p14:creationId xmlns:p14="http://schemas.microsoft.com/office/powerpoint/2010/main" val="3653678558"/>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2026-09-07T16:19:32.7130000Z</dcterms:created>
  <dcterms:modified xsi:type="dcterms:W3CDTF">2026-09-07T16:19:32.7130000Z</dcterms:modified>
</coreProperties>
</file>